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d603fb9-6ebb-d7ee-ea52-1d33289abd98}">
          <p14:sldIdLst>
            <p14:sldId id="256"/>
            <p14:sldId id="257"/>
          </p14:sldIdLst>
        </p14:section>
        <p14:section name="Data" id="{5c978291-2013-a68f-3f57-87ef72a1117f}">
          <p14:sldIdLst>
            <p14:sldId id="258"/>
            <p14:sldId id="259"/>
          </p14:sldIdLst>
        </p14:section>
        <p14:section name="Exploration" id="{57f1a8b1-710a-c32c-a780-5a5852916f08}">
          <p14:sldIdLst>
            <p14:sldId id="260"/>
            <p14:sldId id="261"/>
          </p14:sldIdLst>
        </p14:section>
        <p14:section name="Methods" id="{73632e36-9bef-c737-a716-6d8c4728adda}">
          <p14:sldIdLst>
            <p14:sldId id="262"/>
            <p14:sldId id="263"/>
            <p14:sldId id="264"/>
          </p14:sldIdLst>
        </p14:section>
        <p14:section name="Results" id="{6dc60cb4-f73a-ab8b-56a3-c8d313ed48b7}">
          <p14:sldIdLst>
            <p14:sldId id="265"/>
            <p14:sldId id="266"/>
            <p14:sldId id="267"/>
          </p14:sldIdLst>
        </p14:section>
        <p14:section name="What drives ADA" id="{ea7363cf-80ce-f6bf-9613-07da8007e552}">
          <p14:sldIdLst>
            <p14:sldId id="268"/>
            <p14:sldId id="269"/>
          </p14:sldIdLst>
        </p14:section>
        <p14:section name="Extensions" id="{c215ddf5-b5fb-6910-0c73-85d21e28e624}">
          <p14:sldIdLst>
            <p14:sldId id="270"/>
            <p14:sldId id="271"/>
          </p14:sldIdLst>
        </p14:section>
        <p14:section name="Conclusion" id="{8057d5a1-a185-305c-64f4-ac92c8c1041a}">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project is called Immuno Compass. It is about a safety and effectiveness problem with modern biologic medicines: sometimes the patient's immune system attacks the drug. I used a newly consolidated public database of clinical trials to ask two questions: can we predict how often this happens for a drug, and which factors are linked to it? I will walk you through the data, the three modelling approaches, an honest comparison, and what the models agree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Biologics are protein drugs, for example monoclonal antibodies. Because they are proteins, the immune system can sometimes see them as foreign and produce anti-drug antibodies, which I will call ADAs. ADAs can block the drug, remove it from the body faster, or cause reactions. Every new biologic is tested for ADAs in clinical trials, but the results were scattered. The Immunogenicity Database Collaborative recently collected them. My question: using what we know about the drug, the treatment and the trial, can we predict the ADA frequency, and what is it linked to? I am not claiming immunogenicity prediction is new; the contribution is an integrated statistical, Bayesian and machine-learning analysis of this new resource.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one row of data means. A trial group of, say, 100 patients was tested, and 15 were ADA-positive: a frequency of 15 percent. Because we know both counts, this is neither a yes/no classification nor ordinary regression on a percentage. The natural model is the Binomial distribution: each patient is like a coin flip with probability p of being ADA-positive. Our models try to learn how p depends on the drug and the trial. An important consequence: a group of 1,000 patients carries more information than a group of 10, so groups must be weighted.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clinical trials table has 3,334 rows. I removed 53 rows without usable counts. Then an important discovery: rows labelled 'therapeutic naive' are measurements taken before the drug was given, with only 4 percent ADA, so they can't tell us about the drug and were removed. Next, the same patients were often measured at many timepoints, up to 36 rows for one group; counting them all would count the same people many times, so I kept one row per group, at the peak ADA timepoint, and checked that using the last timepoint gives the same conclusions. The result: 1,754 patient groups, 137 drug products from 108 molecules, and over 211,000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already tells a biological story. Fully human antibodies have about 10 percent ADA, humanized ones 13, chimeric antibodies, which are partly mouse, 25 percent, and drugs derived from bacteria almost 90 percent. The less human the protein looks, the more the immune system reacts. The horizontal lines are 95 percent intervals. I computed them by re-sampling molecules rather than individual trial groups, because many groups belong to the same molecule and are not independent. That idea of grouping by molecule comes back several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all groups shared one ADA probability, results would scatter only by chance, inside this orange funnel: wide for small groups, narrow for big ones. In reality 31 percent of groups fall outside, where we would expect only 0.2 percent. This is called overdispersion. In the Bayesian Beta-Binomial model, the dispersion parameter phi is about 3.6, which means patients in the same group are correlated: a 1,000-patient trial carries roughly as much information about the average rate as five independent patients. This one fact explains most of what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test fairly? If we split trial groups randomly, the same drug appears in both training and test data. This bar chart shows a 'drug memoriser' that knows no biology and only remembers each drug's past ADA rate. With a random split it looks brilliant, 7.5 points of error. With an honest split it is no better than guessing the average. So all models are evaluated on molecules they have never seen. One lesson from the project: I first grouped by drug product, but biosimilars are copies of the same molecule. When the sequence features exposed this, I regrouped by molecule and re-ran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three families of models. First, the Binomial GLM, a classic weighing scale where each clue gets a weight; it gives odds ratios. I used cluster-robust errors and tried L1 and L2 regularisation, choosing the penalty with nested cross-validation. Second, the Bayesian model in PyMC. Instead of one number per effect it gives a whole distribution, like a weather forecaster saying 70 percent chance of rain. The Beta-Binomial version lets every trial group have its own probability, which handles the overdispersion. Third, XGBoost, which builds hundreds of small decision trees, like playing twenty questions. All were scored the same way, against a simple baseline: always predict the training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Bayes' theorem in one picture: the posterior is proportional to the likelihood times the prior. The priors say effects are probably modest. The likelihood is Beta-Binomial: each group first gets its own probability drawn around the model's prediction, then its patients are counted. PyMC samples the posterior with NUTS; the diagnostics were clean, with r-hat of 1.00 and no divergences. Why Beta-Binomial? A plain Binomial version assumes every patient in a group flips the same coin. Its uncertainty ranges were far too narrow. The Beta-Binomial passes the posterior predictive check: simulated data look like the real data, including the share of groups with zero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and honest result. Bars show the average prediction error on molecules never seen in training, with spread across the five folds. Guessing the average gives 13.1 percentage points. XGBoost is best at 12.8, but that small gain is less than the variation between folds, and it does not improve the probability score. Models that treat every patient as independent, the plain GLM and the Bayesian Binomial, do worse than the average. So, with these clues, ADA for a brand-new molecule is barely predictable. Most of the variation is specific to each molecule.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is not only about the middle guess; it is also about honest uncertainty. A 90 percent range should contain the real result about 90 percent of the time. Every model that assumes plain Binomial spread manages only about half. The Beta-Binomial reaches 88 percent. Interestingly, a Beta-Binomial with no clues at all does slightly better still. So the most honest forecast for a new molecule is: around 13 to 14 percent on average, with a wide range. The take-home message: getting the noise model right mattered more than any clue.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asks: when the model says 20 percent, is it 20 percent? I sorted held-out groups by their predicted ADA into eight bins and compared the average prediction with what was observed. A perfect model sits on the diagonal. Our models predict a range from about 2 to 35 percent, but the observed rates in those bins stay between about 4 and 26 percent, closer to the middle. The models are over-confident about how different a new molecule will be. That is consistent with everything else: limited information about each molecule, and a lot of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if prediction for new molecules is hard, the models can still describe patterns. These are odds ratios from the Bayesian Beta-Binomial with 94 percent credible intervals. Orange means more ADA, blue less. More foreign proteins, bacterial or chimeric, have more ADA, and so does injection under the skin compared with into a vein. Later trials report more ADA, which is most likely because newer tests are more sensitive. Higher doses and co-medication go with less ADA, consistent with immune tolerance and suppression. These are associations in observational data, not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these patterns, I compared three very different explanations: GLM odds ratios with cluster-robust errors, Bayesian posteriors, and SHAP values from XGBoost. On the left, the SHAP plot: each dot is a trial group, and its position shows how much a clue pushed that group's prediction up or down. Across all 42 feature columns, 32 point in the same direction in all three methods, and 9 are confidently non-zero in both statistical models. That agreement gives me more confidence that these are real patterns in the database, while still being associations.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promised to try molecular features. From the sequence table I computed five whole-molecule properties with Biopython: size, charge balance, hydrophobicity, aromaticity and an instability index, for 89 percent of groups. Before looking at results I fixed a rule: keep them only if they improve the error on average and in at least four of the five folds. No model passed. XGBoost improved on average but in only three folds. So the honest report is: tested, no consistent improvement. The experiment also revealed the biosimilar leak I mentioned, which made the first, product-grouped result look much better than it really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deliverable is an interactive Streamlit dashboard. In the Explore tab you can group ADA frequency by origin, route, disease area or dose and filter the data. In the Predict tab you describe a drug and a trial and get the XGBoost estimate and the Bayesian Beta-Binomial range, including how many patients out of a group of your chosen size might be ADA-positive. The app never retrains; it loads the saved models together with their preprocessing, which avoids the classic mismatch between training and the app. If time allows, I can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limitations. The trials used different ADA tests over two decades, which is probably why trial year matters so much. Dose had to be extracted from text and is approximate. With only about 108 molecules there is limited information about drug-specific effects, and the Bayesian model does not yet include a per-molecule random effect; I used cluster-robust GLM errors as a conservative check. Everything is association, not causation. Natural next steps: add assay information, build a hierarchical model, and try more targeted sequence features such as humanness scores and T-cell epitopes.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First, these data are strongly overdispersed, and only a Beta-Binomial model gives honest uncertainty. Second, for a brand-new molecule, the clues we have predict ADA barely better than the database average of about 13 percent. Third, despite that, three very different methods agree on a short list of associated factors: assay era, dose, how foreign the protein is, the type of trial, and co-medication. And fourth, a methodological lesson: fair evaluation by molecule changes the conclusions, and leakage is easy to miss.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rtlCol="0"/>
          <a:lstStyle>
            <a:lvl1pPr indent="0" marL="0">
              <a:buNone/>
              <a:defRPr lang="en-US" sz="5400" b="1" dirty="0">
                <a:solidFill>
                  <a:schemeClr val="bg1"/>
                </a:solidFill>
                <a:latin typeface="Cambria" pitchFamily="34" charset="0"/>
                <a:ea typeface="Cambria" pitchFamily="34" charset="-122"/>
                <a:cs typeface="Cambria" pitchFamily="34" charset="-120"/>
              </a:defRPr>
            </a:lvl1pPr>
          </a:lstStyle>
          <a:p>
            <a:pPr indent="0" marL="0">
              <a:buNone/>
            </a:pPr>
            <a:endParaRPr lang="en-US" sz="5400" dirty="0"/>
          </a:p>
        </p:txBody>
      </p:sp>
      <p:sp>
        <p:nvSpPr>
          <p:cNvPr id="3" name="Text 0"/>
          <p:cNvSpPr/>
          <p:nvPr>
            <p:ph idx="101" type="body" hasCustomPrompt="1"/>
          </p:nvPr>
        </p:nvSpPr>
        <p:spPr>
          <a:xfrm>
            <a:off x="731520" y="3429000"/>
            <a:ext cx="10058400" cy="146304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10698480" cy="1097280"/>
          </a:xfrm>
          <a:prstGeom prst="rect">
            <a:avLst/>
          </a:prstGeom>
          <a:noFill/>
          <a:ln/>
        </p:spPr>
        <p:txBody>
          <a:bodyPr wrap="square" rtlCol="0"/>
          <a:lstStyle>
            <a:lvl1pPr indent="0" marL="0">
              <a:buNone/>
              <a:defRPr lang="en-US" sz="4400" b="1" dirty="0">
                <a:solidFill>
                  <a:schemeClr val="bg1"/>
                </a:solidFill>
                <a:latin typeface="Cambria" pitchFamily="34" charset="0"/>
                <a:ea typeface="Cambria" pitchFamily="34" charset="-122"/>
                <a:cs typeface="Cambria" pitchFamily="34" charset="-120"/>
              </a:defRPr>
            </a:lvl1pPr>
          </a:lstStyle>
          <a:p>
            <a:pPr indent="0" marL="0">
              <a:buNone/>
            </a:pPr>
            <a:endParaRPr lang="en-US" sz="4400" dirty="0"/>
          </a:p>
        </p:txBody>
      </p:sp>
      <p:sp>
        <p:nvSpPr>
          <p:cNvPr id="3" name="Text 0"/>
          <p:cNvSpPr/>
          <p:nvPr>
            <p:ph idx="101" type="body" hasCustomPrompt="1"/>
          </p:nvPr>
        </p:nvSpPr>
        <p:spPr>
          <a:xfrm>
            <a:off x="731520" y="2103120"/>
            <a:ext cx="10698480" cy="4114800"/>
          </a:xfrm>
          <a:prstGeom prst="rect">
            <a:avLst/>
          </a:prstGeom>
          <a:noFill/>
          <a:ln/>
        </p:spPr>
        <p:txBody>
          <a:bodyPr wrap="square" rtlCol="0"/>
          <a:lstStyle>
            <a:lvl1pPr indent="0" marL="0">
              <a:spcAft>
                <a:spcPts val="1400"/>
              </a:spcAft>
              <a:buNone/>
              <a:defRPr lang="en-US" sz="2200" dirty="0">
                <a:solidFill>
                  <a:schemeClr val="bg2"/>
                </a:solidFill>
              </a:defRPr>
            </a:lvl1pPr>
          </a:lstStyle>
          <a:p>
            <a:pPr indent="0" marL="0">
              <a:spcAft>
                <a:spcPts val="1400"/>
              </a:spcAft>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Immuno Compass · Foundations of Data Science</a:t>
            </a:r>
            <a:endParaRPr lang="en-US" sz="1000" dirty="0"/>
          </a:p>
        </p:txBody>
      </p:sp>
      <p:sp>
        <p:nvSpPr>
          <p:cNvPr id="3" name="Text 1"/>
          <p:cNvSpPr/>
          <p:nvPr>
            <p:ph idx="101" type="title" hasCustomPrompt="1"/>
          </p:nvPr>
        </p:nvSpPr>
        <p:spPr>
          <a:xfrm>
            <a:off x="548640" y="320040"/>
            <a:ext cx="11064240" cy="86868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rtlCol="0" anchor="b"/>
          <a:lstStyle/>
          <a:p>
            <a:pPr indent="0" marL="0">
              <a:buNone/>
            </a:pPr>
            <a:r>
              <a:rPr lang="en-US" sz="5400" b="1" dirty="0">
                <a:solidFill>
                  <a:schemeClr val="bg1"/>
                </a:solidFill>
                <a:latin typeface="Cambria" pitchFamily="34" charset="0"/>
                <a:ea typeface="Cambria" pitchFamily="34" charset="-122"/>
                <a:cs typeface="Cambria" pitchFamily="34" charset="-120"/>
              </a:rPr>
              <a:t>Immuno Compass</a:t>
            </a:r>
            <a:endParaRPr lang="en-US" sz="5400" dirty="0"/>
          </a:p>
        </p:txBody>
      </p:sp>
      <p:sp>
        <p:nvSpPr>
          <p:cNvPr id="3" name="Text 0"/>
          <p:cNvSpPr/>
          <p:nvPr>
            <p:ph idx="101" type="body" hasCustomPrompt="1"/>
          </p:nvPr>
        </p:nvSpPr>
        <p:spPr>
          <a:xfrm>
            <a:off x="731520" y="3429000"/>
            <a:ext cx="10058400" cy="1463040"/>
          </a:xfrm>
          <a:prstGeom prst="rect">
            <a:avLst/>
          </a:prstGeom>
          <a:noFill/>
          <a:ln/>
        </p:spPr>
        <p:txBody>
          <a:bodyPr wrap="square" rtlCol="0" anchor="t"/>
          <a:lstStyle/>
          <a:p>
            <a:pPr indent="0" marL="0">
              <a:buNone/>
            </a:pPr>
            <a:r>
              <a:rPr lang="en-US" sz="2200" dirty="0">
                <a:solidFill>
                  <a:schemeClr val="bg2"/>
                </a:solidFill>
              </a:rPr>
              <a:t>Predicting and explaining how often patients develop anti-drug antibodies to biologic medicines</a:t>
            </a:r>
            <a:endParaRPr lang="en-US" sz="2200" dirty="0"/>
          </a:p>
          <a:p>
            <a:pPr indent="0" marL="0">
              <a:buNone/>
            </a:pPr>
            <a:r>
              <a:rPr lang="en-US" sz="2200" dirty="0">
                <a:solidFill>
                  <a:schemeClr val="bg2"/>
                </a:solidFill>
              </a:rPr>
              <a:t>Foundations of Data Science · course project</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When the immune system attacks the medicine</a:t>
            </a:r>
            <a:endParaRPr lang="en-US" sz="3200" dirty="0"/>
          </a:p>
        </p:txBody>
      </p:sp>
      <p:sp>
        <p:nvSpPr>
          <p:cNvPr id="3" name="problem card 1"/>
          <p:cNvSpPr/>
          <p:nvPr/>
        </p:nvSpPr>
        <p:spPr>
          <a:xfrm>
            <a:off x="548640" y="1463040"/>
            <a:ext cx="3474720" cy="2834640"/>
          </a:xfrm>
          <a:prstGeom prst="roundRect">
            <a:avLst>
              <a:gd name="adj" fmla="val 3871"/>
            </a:avLst>
          </a:prstGeom>
          <a:solidFill>
            <a:schemeClr val="bg2"/>
          </a:solidFill>
          <a:ln w="12700">
            <a:solidFill>
              <a:schemeClr val="bg2"/>
            </a:solidFill>
            <a:prstDash val="solid"/>
          </a:ln>
        </p:spPr>
      </p:sp>
      <p:sp>
        <p:nvSpPr>
          <p:cNvPr id="4" name="problem 1 circle"/>
          <p:cNvSpPr/>
          <p:nvPr/>
        </p:nvSpPr>
        <p:spPr>
          <a:xfrm>
            <a:off x="822960" y="1691640"/>
            <a:ext cx="502920" cy="502920"/>
          </a:xfrm>
          <a:prstGeom prst="ellipse">
            <a:avLst/>
          </a:prstGeom>
          <a:solidFill>
            <a:schemeClr val="accent2"/>
          </a:solidFill>
          <a:ln w="12700">
            <a:solidFill>
              <a:schemeClr val="accent2"/>
            </a:solidFill>
            <a:prstDash val="solid"/>
          </a:ln>
        </p:spPr>
      </p:sp>
      <p:sp>
        <p:nvSpPr>
          <p:cNvPr id="5" name="problem 1 number"/>
          <p:cNvSpPr txBox="1"/>
          <p:nvPr/>
        </p:nvSpPr>
        <p:spPr>
          <a:xfrm>
            <a:off x="822960"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problem heading 1"/>
          <p:cNvSpPr txBox="1"/>
          <p:nvPr/>
        </p:nvSpPr>
        <p:spPr>
          <a:xfrm>
            <a:off x="1463040" y="1691640"/>
            <a:ext cx="2377440" cy="502920"/>
          </a:xfrm>
          <a:prstGeom prst="rect">
            <a:avLst/>
          </a:prstGeom>
          <a:noFill/>
          <a:ln/>
        </p:spPr>
        <p:txBody>
          <a:bodyPr wrap="square" lIns="0" tIns="0" rIns="0" bIns="0" rtlCol="0" anchor="ctr"/>
          <a:lstStyle/>
          <a:p>
            <a:pPr indent="0" marL="0">
              <a:buNone/>
            </a:pPr>
            <a:r>
              <a:rPr lang="en-US" sz="2000" b="1" dirty="0">
                <a:solidFill>
                  <a:schemeClr val="tx2"/>
                </a:solidFill>
              </a:rPr>
              <a:t>Biologic drugs</a:t>
            </a:r>
            <a:endParaRPr lang="en-US" sz="2000" dirty="0"/>
          </a:p>
        </p:txBody>
      </p:sp>
      <p:sp>
        <p:nvSpPr>
          <p:cNvPr id="7" name="problem text 1"/>
          <p:cNvSpPr txBox="1"/>
          <p:nvPr/>
        </p:nvSpPr>
        <p:spPr>
          <a:xfrm>
            <a:off x="822960" y="2377440"/>
            <a:ext cx="2971800" cy="1737360"/>
          </a:xfrm>
          <a:prstGeom prst="rect">
            <a:avLst/>
          </a:prstGeom>
          <a:noFill/>
          <a:ln/>
        </p:spPr>
        <p:txBody>
          <a:bodyPr wrap="square" lIns="0" tIns="0" rIns="0" bIns="0" rtlCol="0" anchor="t"/>
          <a:lstStyle/>
          <a:p>
            <a:pPr indent="0" marL="0">
              <a:buNone/>
            </a:pPr>
            <a:r>
              <a:rPr lang="en-US" sz="1600" dirty="0">
                <a:solidFill>
                  <a:schemeClr val="tx1"/>
                </a:solidFill>
              </a:rPr>
              <a:t>Proteins such as therapeutic antibodies, produced by living cells, used in cancer, autoimmune disease and more.</a:t>
            </a:r>
            <a:endParaRPr lang="en-US" sz="1600" dirty="0"/>
          </a:p>
        </p:txBody>
      </p:sp>
      <p:sp>
        <p:nvSpPr>
          <p:cNvPr id="8" name="problem card 2"/>
          <p:cNvSpPr/>
          <p:nvPr/>
        </p:nvSpPr>
        <p:spPr>
          <a:xfrm>
            <a:off x="4297680" y="1463040"/>
            <a:ext cx="3474720" cy="2834640"/>
          </a:xfrm>
          <a:prstGeom prst="roundRect">
            <a:avLst>
              <a:gd name="adj" fmla="val 3871"/>
            </a:avLst>
          </a:prstGeom>
          <a:solidFill>
            <a:schemeClr val="bg2"/>
          </a:solidFill>
          <a:ln w="12700">
            <a:solidFill>
              <a:schemeClr val="bg2"/>
            </a:solidFill>
            <a:prstDash val="solid"/>
          </a:ln>
        </p:spPr>
      </p:sp>
      <p:sp>
        <p:nvSpPr>
          <p:cNvPr id="9" name="problem 2 circle"/>
          <p:cNvSpPr/>
          <p:nvPr/>
        </p:nvSpPr>
        <p:spPr>
          <a:xfrm>
            <a:off x="4572000" y="1691640"/>
            <a:ext cx="502920" cy="502920"/>
          </a:xfrm>
          <a:prstGeom prst="ellipse">
            <a:avLst/>
          </a:prstGeom>
          <a:solidFill>
            <a:schemeClr val="accent1"/>
          </a:solidFill>
          <a:ln w="12700">
            <a:solidFill>
              <a:schemeClr val="accent1"/>
            </a:solidFill>
            <a:prstDash val="solid"/>
          </a:ln>
        </p:spPr>
      </p:sp>
      <p:sp>
        <p:nvSpPr>
          <p:cNvPr id="10" name="problem 2 number"/>
          <p:cNvSpPr txBox="1"/>
          <p:nvPr/>
        </p:nvSpPr>
        <p:spPr>
          <a:xfrm>
            <a:off x="4572000"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problem heading 2"/>
          <p:cNvSpPr txBox="1"/>
          <p:nvPr/>
        </p:nvSpPr>
        <p:spPr>
          <a:xfrm>
            <a:off x="5212080" y="1691640"/>
            <a:ext cx="2377440" cy="502920"/>
          </a:xfrm>
          <a:prstGeom prst="rect">
            <a:avLst/>
          </a:prstGeom>
          <a:noFill/>
          <a:ln/>
        </p:spPr>
        <p:txBody>
          <a:bodyPr wrap="square" lIns="0" tIns="0" rIns="0" bIns="0" rtlCol="0" anchor="ctr"/>
          <a:lstStyle/>
          <a:p>
            <a:pPr indent="0" marL="0">
              <a:buNone/>
            </a:pPr>
            <a:r>
              <a:rPr lang="en-US" sz="2000" b="1" dirty="0">
                <a:solidFill>
                  <a:schemeClr val="tx2"/>
                </a:solidFill>
              </a:rPr>
              <a:t>Seen as foreign</a:t>
            </a:r>
            <a:endParaRPr lang="en-US" sz="2000" dirty="0"/>
          </a:p>
        </p:txBody>
      </p:sp>
      <p:sp>
        <p:nvSpPr>
          <p:cNvPr id="12" name="problem text 2"/>
          <p:cNvSpPr txBox="1"/>
          <p:nvPr/>
        </p:nvSpPr>
        <p:spPr>
          <a:xfrm>
            <a:off x="4572000" y="2377440"/>
            <a:ext cx="2971800" cy="1737360"/>
          </a:xfrm>
          <a:prstGeom prst="rect">
            <a:avLst/>
          </a:prstGeom>
          <a:noFill/>
          <a:ln/>
        </p:spPr>
        <p:txBody>
          <a:bodyPr wrap="square" lIns="0" tIns="0" rIns="0" bIns="0" rtlCol="0" anchor="t"/>
          <a:lstStyle/>
          <a:p>
            <a:pPr indent="0" marL="0">
              <a:buNone/>
            </a:pPr>
            <a:r>
              <a:rPr lang="en-US" sz="1600" dirty="0">
                <a:solidFill>
                  <a:schemeClr val="tx1"/>
                </a:solidFill>
              </a:rPr>
              <a:t>The immune system can recognise the drug as a stranger and make anti-drug antibodies (ADAs).</a:t>
            </a:r>
            <a:endParaRPr lang="en-US" sz="1600" dirty="0"/>
          </a:p>
        </p:txBody>
      </p:sp>
      <p:sp>
        <p:nvSpPr>
          <p:cNvPr id="13" name="problem card 3"/>
          <p:cNvSpPr/>
          <p:nvPr/>
        </p:nvSpPr>
        <p:spPr>
          <a:xfrm>
            <a:off x="8046720" y="1463040"/>
            <a:ext cx="3474720" cy="2834640"/>
          </a:xfrm>
          <a:prstGeom prst="roundRect">
            <a:avLst>
              <a:gd name="adj" fmla="val 3871"/>
            </a:avLst>
          </a:prstGeom>
          <a:solidFill>
            <a:schemeClr val="bg2"/>
          </a:solidFill>
          <a:ln w="12700">
            <a:solidFill>
              <a:schemeClr val="bg2"/>
            </a:solidFill>
            <a:prstDash val="solid"/>
          </a:ln>
        </p:spPr>
      </p:sp>
      <p:sp>
        <p:nvSpPr>
          <p:cNvPr id="14" name="problem 3 circle"/>
          <p:cNvSpPr/>
          <p:nvPr/>
        </p:nvSpPr>
        <p:spPr>
          <a:xfrm>
            <a:off x="8321040" y="1691640"/>
            <a:ext cx="502920" cy="502920"/>
          </a:xfrm>
          <a:prstGeom prst="ellipse">
            <a:avLst/>
          </a:prstGeom>
          <a:solidFill>
            <a:schemeClr val="accent3"/>
          </a:solidFill>
          <a:ln w="12700">
            <a:solidFill>
              <a:schemeClr val="accent3"/>
            </a:solidFill>
            <a:prstDash val="solid"/>
          </a:ln>
        </p:spPr>
      </p:sp>
      <p:sp>
        <p:nvSpPr>
          <p:cNvPr id="15" name="problem 3 number"/>
          <p:cNvSpPr txBox="1"/>
          <p:nvPr/>
        </p:nvSpPr>
        <p:spPr>
          <a:xfrm>
            <a:off x="8321040"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problem heading 3"/>
          <p:cNvSpPr txBox="1"/>
          <p:nvPr/>
        </p:nvSpPr>
        <p:spPr>
          <a:xfrm>
            <a:off x="8961120" y="1691640"/>
            <a:ext cx="2377440" cy="502920"/>
          </a:xfrm>
          <a:prstGeom prst="rect">
            <a:avLst/>
          </a:prstGeom>
          <a:noFill/>
          <a:ln/>
        </p:spPr>
        <p:txBody>
          <a:bodyPr wrap="square" lIns="0" tIns="0" rIns="0" bIns="0" rtlCol="0" anchor="ctr"/>
          <a:lstStyle/>
          <a:p>
            <a:pPr indent="0" marL="0">
              <a:buNone/>
            </a:pPr>
            <a:r>
              <a:rPr lang="en-US" sz="2000" b="1" dirty="0">
                <a:solidFill>
                  <a:schemeClr val="tx2"/>
                </a:solidFill>
              </a:rPr>
              <a:t>Why it matters</a:t>
            </a:r>
            <a:endParaRPr lang="en-US" sz="2000" dirty="0"/>
          </a:p>
        </p:txBody>
      </p:sp>
      <p:sp>
        <p:nvSpPr>
          <p:cNvPr id="17" name="problem text 3"/>
          <p:cNvSpPr txBox="1"/>
          <p:nvPr/>
        </p:nvSpPr>
        <p:spPr>
          <a:xfrm>
            <a:off x="8321040" y="2377440"/>
            <a:ext cx="2971800" cy="1737360"/>
          </a:xfrm>
          <a:prstGeom prst="rect">
            <a:avLst/>
          </a:prstGeom>
          <a:noFill/>
          <a:ln/>
        </p:spPr>
        <p:txBody>
          <a:bodyPr wrap="square" lIns="0" tIns="0" rIns="0" bIns="0" rtlCol="0" anchor="t"/>
          <a:lstStyle/>
          <a:p>
            <a:pPr indent="0" marL="0">
              <a:buNone/>
            </a:pPr>
            <a:r>
              <a:rPr lang="en-US" sz="1600" dirty="0">
                <a:solidFill>
                  <a:schemeClr val="tx1"/>
                </a:solidFill>
              </a:rPr>
              <a:t>ADAs can neutralise the drug, clear it faster, or cause infusion and allergic reactions.</a:t>
            </a:r>
            <a:endParaRPr lang="en-US" sz="1600" dirty="0"/>
          </a:p>
        </p:txBody>
      </p:sp>
      <p:sp>
        <p:nvSpPr>
          <p:cNvPr id="18" name="question box"/>
          <p:cNvSpPr/>
          <p:nvPr/>
        </p:nvSpPr>
        <p:spPr>
          <a:xfrm>
            <a:off x="548640" y="4617720"/>
            <a:ext cx="11064240" cy="1417320"/>
          </a:xfrm>
          <a:prstGeom prst="roundRect">
            <a:avLst>
              <a:gd name="adj" fmla="val 7742"/>
            </a:avLst>
          </a:prstGeom>
          <a:solidFill>
            <a:schemeClr val="tx2"/>
          </a:solidFill>
          <a:ln w="12700">
            <a:solidFill>
              <a:schemeClr val="tx2"/>
            </a:solidFill>
            <a:prstDash val="solid"/>
          </a:ln>
        </p:spPr>
      </p:sp>
      <p:sp>
        <p:nvSpPr>
          <p:cNvPr id="19" name="question text"/>
          <p:cNvSpPr txBox="1"/>
          <p:nvPr/>
        </p:nvSpPr>
        <p:spPr>
          <a:xfrm>
            <a:off x="868680" y="4709160"/>
            <a:ext cx="10424160" cy="1234440"/>
          </a:xfrm>
          <a:prstGeom prst="rect">
            <a:avLst/>
          </a:prstGeom>
          <a:noFill/>
          <a:ln/>
        </p:spPr>
        <p:txBody>
          <a:bodyPr wrap="square" lIns="0" tIns="0" rIns="0" bIns="0" rtlCol="0" anchor="ctr"/>
          <a:lstStyle/>
          <a:p>
            <a:pPr indent="0" marL="0">
              <a:buNone/>
            </a:pPr>
            <a:r>
              <a:rPr lang="en-US" sz="1800" b="1" dirty="0">
                <a:solidFill>
                  <a:schemeClr val="accent4"/>
                </a:solidFill>
              </a:rPr>
              <a:t>Research question  </a:t>
            </a:r>
            <a:pPr indent="0" marL="0">
              <a:buNone/>
            </a:pPr>
            <a:r>
              <a:rPr lang="en-US" sz="1800" dirty="0">
                <a:solidFill>
                  <a:schemeClr val="bg1"/>
                </a:solidFill>
              </a:rPr>
              <a:t>Can information about the drug, the treatment and the trial predict the share of patients who develop ADAs, and which factors are associated with it?</a:t>
            </a:r>
            <a:endParaRPr lang="en-US" sz="18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Each data row is a count: y of n patients</a:t>
            </a:r>
            <a:endParaRPr lang="en-US" sz="3200" dirty="0"/>
          </a:p>
        </p:txBody>
      </p:sp>
      <p:pic>
        <p:nvPicPr>
          <p:cNvPr id="3" name="100 patients, 15 ADA-positive" descr="100 patients, 15 ADA-positive">    </p:cNvPr>
          <p:cNvPicPr>
            <a:picLocks noChangeAspect="1"/>
          </p:cNvPicPr>
          <p:nvPr/>
        </p:nvPicPr>
        <p:blipFill>
          <a:blip r:embed="rId1"/>
          <a:stretch>
            <a:fillRect/>
          </a:stretch>
        </p:blipFill>
        <p:spPr>
          <a:xfrm>
            <a:off x="548640" y="1345433"/>
            <a:ext cx="11064240" cy="3527054"/>
          </a:xfrm>
          <a:prstGeom prst="rect">
            <a:avLst/>
          </a:prstGeom>
        </p:spPr>
      </p:pic>
      <p:sp>
        <p:nvSpPr>
          <p:cNvPr id="4" name="binomial card"/>
          <p:cNvSpPr/>
          <p:nvPr/>
        </p:nvSpPr>
        <p:spPr>
          <a:xfrm>
            <a:off x="548640" y="5029200"/>
            <a:ext cx="11064240" cy="1143000"/>
          </a:xfrm>
          <a:prstGeom prst="roundRect">
            <a:avLst>
              <a:gd name="adj" fmla="val 9600"/>
            </a:avLst>
          </a:prstGeom>
          <a:solidFill>
            <a:schemeClr val="bg2"/>
          </a:solidFill>
          <a:ln w="12700">
            <a:solidFill>
              <a:schemeClr val="bg2"/>
            </a:solidFill>
            <a:prstDash val="solid"/>
          </a:ln>
        </p:spPr>
      </p:sp>
      <p:sp>
        <p:nvSpPr>
          <p:cNvPr id="5" name="binomial text"/>
          <p:cNvSpPr txBox="1"/>
          <p:nvPr/>
        </p:nvSpPr>
        <p:spPr>
          <a:xfrm>
            <a:off x="822960" y="5120640"/>
            <a:ext cx="10515600" cy="960120"/>
          </a:xfrm>
          <a:prstGeom prst="rect">
            <a:avLst/>
          </a:prstGeom>
          <a:noFill/>
          <a:ln/>
        </p:spPr>
        <p:txBody>
          <a:bodyPr wrap="square" lIns="0" tIns="0" rIns="0" bIns="0" rtlCol="0" anchor="ctr"/>
          <a:lstStyle/>
          <a:p>
            <a:pPr indent="0" marL="0">
              <a:buNone/>
            </a:pPr>
            <a:r>
              <a:rPr lang="en-US" sz="1600" b="1" dirty="0">
                <a:solidFill>
                  <a:schemeClr val="tx2"/>
                </a:solidFill>
              </a:rPr>
              <a:t>Not classification, not plain regression. </a:t>
            </a:r>
            <a:pPr indent="0" marL="0">
              <a:buNone/>
            </a:pPr>
            <a:r>
              <a:rPr lang="en-US" sz="1600" dirty="0">
                <a:solidFill>
                  <a:schemeClr val="tx1"/>
                </a:solidFill>
              </a:rPr>
              <a:t>We know how many patients were tested (n) and how many were ADA-positive (y), so the natural model is y ~ Binomial(n, p), and the models learn what makes p high or low. Big groups tell us more than small ones.</a:t>
            </a:r>
            <a:endParaRPr lang="en-US" sz="16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From 3,334 raw rows to 1,754 patient groups</a:t>
            </a:r>
            <a:endParaRPr lang="en-US" sz="3200" dirty="0"/>
          </a:p>
        </p:txBody>
      </p:sp>
      <p:pic>
        <p:nvPicPr>
          <p:cNvPr id="3" name="data pipeline" descr="data pipeline">    </p:cNvPr>
          <p:cNvPicPr>
            <a:picLocks noChangeAspect="1"/>
          </p:cNvPicPr>
          <p:nvPr/>
        </p:nvPicPr>
        <p:blipFill>
          <a:blip r:embed="rId1"/>
          <a:stretch>
            <a:fillRect/>
          </a:stretch>
        </p:blipFill>
        <p:spPr>
          <a:xfrm>
            <a:off x="365760" y="1741133"/>
            <a:ext cx="7680960" cy="3284294"/>
          </a:xfrm>
          <a:prstGeom prst="rect">
            <a:avLst/>
          </a:prstGeom>
        </p:spPr>
      </p:pic>
      <p:sp>
        <p:nvSpPr>
          <p:cNvPr id="4" name="stat groups"/>
          <p:cNvSpPr txBox="1"/>
          <p:nvPr/>
        </p:nvSpPr>
        <p:spPr>
          <a:xfrm>
            <a:off x="8412480" y="1417320"/>
            <a:ext cx="3291840" cy="123444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1,754</a:t>
            </a:r>
            <a:endParaRPr lang="en-US" sz="4400" dirty="0"/>
          </a:p>
          <a:p>
            <a:pPr indent="0" marL="0">
              <a:buNone/>
            </a:pPr>
            <a:r>
              <a:rPr lang="en-US" sz="1400" dirty="0">
                <a:solidFill>
                  <a:schemeClr val="tx1"/>
                </a:solidFill>
              </a:rPr>
              <a:t>patient groups after cleaning</a:t>
            </a:r>
            <a:endParaRPr lang="en-US" sz="4400" dirty="0"/>
          </a:p>
        </p:txBody>
      </p:sp>
      <p:sp>
        <p:nvSpPr>
          <p:cNvPr id="5" name="stat molecules"/>
          <p:cNvSpPr txBox="1"/>
          <p:nvPr/>
        </p:nvSpPr>
        <p:spPr>
          <a:xfrm>
            <a:off x="8412480" y="2788920"/>
            <a:ext cx="3291840" cy="123444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108</a:t>
            </a:r>
            <a:endParaRPr lang="en-US" sz="4400" dirty="0"/>
          </a:p>
          <a:p>
            <a:pPr indent="0" marL="0">
              <a:buNone/>
            </a:pPr>
            <a:r>
              <a:rPr lang="en-US" sz="1400" dirty="0">
                <a:solidFill>
                  <a:schemeClr val="tx1"/>
                </a:solidFill>
              </a:rPr>
              <a:t>molecules (137 drug products)</a:t>
            </a:r>
            <a:endParaRPr lang="en-US" sz="4400" dirty="0"/>
          </a:p>
        </p:txBody>
      </p:sp>
      <p:sp>
        <p:nvSpPr>
          <p:cNvPr id="6" name="stat patients"/>
          <p:cNvSpPr txBox="1"/>
          <p:nvPr/>
        </p:nvSpPr>
        <p:spPr>
          <a:xfrm>
            <a:off x="8412480" y="4160520"/>
            <a:ext cx="3291840" cy="123444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211,018</a:t>
            </a:r>
            <a:endParaRPr lang="en-US" sz="4400" dirty="0"/>
          </a:p>
          <a:p>
            <a:pPr indent="0" marL="0">
              <a:buNone/>
            </a:pPr>
            <a:r>
              <a:rPr lang="en-US" sz="1400" dirty="0">
                <a:solidFill>
                  <a:schemeClr val="tx1"/>
                </a:solidFill>
              </a:rPr>
              <a:t>patients tested for ADA</a:t>
            </a:r>
            <a:endParaRPr lang="en-US" sz="4400" dirty="0"/>
          </a:p>
        </p:txBody>
      </p:sp>
      <p:sp>
        <p:nvSpPr>
          <p:cNvPr id="7" name="pipeline caption"/>
          <p:cNvSpPr txBox="1"/>
          <p:nvPr/>
        </p:nvSpPr>
        <p:spPr>
          <a:xfrm>
            <a:off x="548640" y="5623560"/>
            <a:ext cx="11064240" cy="548640"/>
          </a:xfrm>
          <a:prstGeom prst="rect">
            <a:avLst/>
          </a:prstGeom>
          <a:noFill/>
          <a:ln/>
        </p:spPr>
        <p:txBody>
          <a:bodyPr wrap="square" lIns="0" tIns="0" rIns="0" bIns="0" rtlCol="0" anchor="ctr"/>
          <a:lstStyle/>
          <a:p>
            <a:pPr indent="0" marL="0">
              <a:buNone/>
            </a:pPr>
            <a:r>
              <a:rPr lang="en-US" sz="1400" dirty="0">
                <a:solidFill>
                  <a:schemeClr val="accent6"/>
                </a:solidFill>
              </a:rPr>
              <a:t>Pre-dose baseline rows removed · same patients measured at many timepoints collapsed to one row per group · dose parsed from free text (≈ mg/kg)</a:t>
            </a:r>
            <a:endParaRPr lang="en-US" sz="14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more 'foreign' the protein, the more ADA</a:t>
            </a:r>
            <a:endParaRPr lang="en-US" sz="3200" dirty="0"/>
          </a:p>
        </p:txBody>
      </p:sp>
      <p:pic>
        <p:nvPicPr>
          <p:cNvPr id="3" name="The more 'foreign' the protein, the more ADA figure" descr="The more 'foreign' the protein, the more ADA figure">    </p:cNvPr>
          <p:cNvPicPr>
            <a:picLocks noChangeAspect="1"/>
          </p:cNvPicPr>
          <p:nvPr/>
        </p:nvPicPr>
        <p:blipFill>
          <a:blip r:embed="rId1"/>
          <a:stretch>
            <a:fillRect/>
          </a:stretch>
        </p:blipFill>
        <p:spPr>
          <a:xfrm>
            <a:off x="457200" y="1771692"/>
            <a:ext cx="7315200" cy="4046136"/>
          </a:xfrm>
          <a:prstGeom prst="rect">
            <a:avLst/>
          </a:prstGeom>
        </p:spPr>
      </p:pic>
      <p:sp>
        <p:nvSpPr>
          <p:cNvPr id="4" name="commentary card"/>
          <p:cNvSpPr/>
          <p:nvPr/>
        </p:nvSpPr>
        <p:spPr>
          <a:xfrm>
            <a:off x="8046720" y="1371600"/>
            <a:ext cx="3611880" cy="4846320"/>
          </a:xfrm>
          <a:prstGeom prst="roundRect">
            <a:avLst>
              <a:gd name="adj" fmla="val 3038"/>
            </a:avLst>
          </a:prstGeom>
          <a:solidFill>
            <a:schemeClr val="bg2"/>
          </a:solidFill>
          <a:ln w="12700">
            <a:solidFill>
              <a:schemeClr val="bg2"/>
            </a:solidFill>
            <a:prstDash val="solid"/>
          </a:ln>
        </p:spPr>
      </p:sp>
      <p:sp>
        <p:nvSpPr>
          <p:cNvPr id="5" name="commentary"/>
          <p:cNvSpPr txBox="1"/>
          <p:nvPr/>
        </p:nvSpPr>
        <p:spPr>
          <a:xfrm>
            <a:off x="8275320" y="1600200"/>
            <a:ext cx="3200400" cy="448056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Human 10 % → humanized 13 % → chimeric 25 % → bacterial 89 %</a:t>
            </a:r>
            <a:endParaRPr lang="en-US" sz="1500" dirty="0"/>
          </a:p>
          <a:p>
            <a:pPr marL="342900" indent="-342900">
              <a:spcAft>
                <a:spcPts val="800"/>
              </a:spcAft>
              <a:buSzPct val="100000"/>
              <a:buChar char="•"/>
            </a:pPr>
            <a:r>
              <a:rPr lang="en-US" sz="1500" dirty="0">
                <a:solidFill>
                  <a:schemeClr val="tx1"/>
                </a:solidFill>
              </a:rPr>
              <a:t>Matches immunology: the less human the protein looks, the stronger the reaction</a:t>
            </a:r>
            <a:endParaRPr lang="en-US" sz="1500" dirty="0"/>
          </a:p>
          <a:p>
            <a:pPr marL="342900" indent="-342900">
              <a:spcAft>
                <a:spcPts val="800"/>
              </a:spcAft>
              <a:buSzPct val="100000"/>
              <a:buChar char="•"/>
            </a:pPr>
            <a:r>
              <a:rPr lang="en-US" sz="1500" dirty="0">
                <a:solidFill>
                  <a:schemeClr val="tx1"/>
                </a:solidFill>
              </a:rPr>
              <a:t>Intervals from re-sampling molecules, because groups of the same molecule are not independent</a:t>
            </a:r>
            <a:endParaRPr lang="en-US" sz="1500" dirty="0"/>
          </a:p>
          <a:p>
            <a:pPr marL="342900" indent="-342900">
              <a:spcAft>
                <a:spcPts val="800"/>
              </a:spcAft>
              <a:buSzPct val="100000"/>
              <a:buChar char="•"/>
            </a:pPr>
            <a:r>
              <a:rPr lang="en-US" sz="1500" dirty="0">
                <a:solidFill>
                  <a:schemeClr val="tx1"/>
                </a:solidFill>
              </a:rPr>
              <a:t>Overall: 12.9 % of patients ADA-positive</a:t>
            </a:r>
            <a:endParaRPr lang="en-US" sz="15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Patient groups vary far more than chance allows</a:t>
            </a:r>
            <a:endParaRPr lang="en-US" sz="3200" dirty="0"/>
          </a:p>
        </p:txBody>
      </p:sp>
      <p:pic>
        <p:nvPicPr>
          <p:cNvPr id="3" name="Patient groups vary far more than chance allows figure" descr="Patient groups vary far more than chance allows figure">    </p:cNvPr>
          <p:cNvPicPr>
            <a:picLocks noChangeAspect="1"/>
          </p:cNvPicPr>
          <p:nvPr/>
        </p:nvPicPr>
        <p:blipFill>
          <a:blip r:embed="rId1"/>
          <a:stretch>
            <a:fillRect/>
          </a:stretch>
        </p:blipFill>
        <p:spPr>
          <a:xfrm>
            <a:off x="457200" y="1665829"/>
            <a:ext cx="7315200" cy="4257863"/>
          </a:xfrm>
          <a:prstGeom prst="rect">
            <a:avLst/>
          </a:prstGeom>
        </p:spPr>
      </p:pic>
      <p:sp>
        <p:nvSpPr>
          <p:cNvPr id="4" name="commentary card"/>
          <p:cNvSpPr/>
          <p:nvPr/>
        </p:nvSpPr>
        <p:spPr>
          <a:xfrm>
            <a:off x="8046720" y="1371600"/>
            <a:ext cx="3611880" cy="4846320"/>
          </a:xfrm>
          <a:prstGeom prst="roundRect">
            <a:avLst>
              <a:gd name="adj" fmla="val 3038"/>
            </a:avLst>
          </a:prstGeom>
          <a:solidFill>
            <a:schemeClr val="bg2"/>
          </a:solidFill>
          <a:ln w="12700">
            <a:solidFill>
              <a:schemeClr val="bg2"/>
            </a:solidFill>
            <a:prstDash val="solid"/>
          </a:ln>
        </p:spPr>
      </p:sp>
      <p:sp>
        <p:nvSpPr>
          <p:cNvPr id="5" name="stat overdispersion"/>
          <p:cNvSpPr txBox="1"/>
          <p:nvPr/>
        </p:nvSpPr>
        <p:spPr>
          <a:xfrm>
            <a:off x="8275320" y="1554480"/>
            <a:ext cx="3200400" cy="123444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 5</a:t>
            </a:r>
            <a:endParaRPr lang="en-US" sz="4400" dirty="0"/>
          </a:p>
          <a:p>
            <a:pPr indent="0" marL="0">
              <a:buNone/>
            </a:pPr>
            <a:r>
              <a:rPr lang="en-US" sz="1400" dirty="0">
                <a:solidFill>
                  <a:schemeClr val="tx1"/>
                </a:solidFill>
              </a:rPr>
              <a:t>patients' worth of information in a 1,000-patient group (φ ≈ 3.6)</a:t>
            </a:r>
            <a:endParaRPr lang="en-US" sz="4400" dirty="0"/>
          </a:p>
        </p:txBody>
      </p:sp>
      <p:sp>
        <p:nvSpPr>
          <p:cNvPr id="6" name="commentary"/>
          <p:cNvSpPr txBox="1"/>
          <p:nvPr/>
        </p:nvSpPr>
        <p:spPr>
          <a:xfrm>
            <a:off x="8275320" y="2880360"/>
            <a:ext cx="3200400" cy="320040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31 % of groups lie outside the chance-only funnel (0.2 % expected)</a:t>
            </a:r>
            <a:endParaRPr lang="en-US" sz="1500" dirty="0"/>
          </a:p>
          <a:p>
            <a:pPr marL="342900" indent="-342900">
              <a:spcAft>
                <a:spcPts val="800"/>
              </a:spcAft>
              <a:buSzPct val="100000"/>
              <a:buChar char="•"/>
            </a:pPr>
            <a:r>
              <a:rPr lang="en-US" sz="1500" dirty="0">
                <a:solidFill>
                  <a:schemeClr val="tx1"/>
                </a:solidFill>
              </a:rPr>
              <a:t>Cause: assays, populations and the drug itself differ between trials</a:t>
            </a:r>
            <a:endParaRPr lang="en-US" sz="1500" dirty="0"/>
          </a:p>
          <a:p>
            <a:pPr marL="342900" indent="-342900">
              <a:spcAft>
                <a:spcPts val="800"/>
              </a:spcAft>
              <a:buSzPct val="100000"/>
              <a:buChar char="•"/>
            </a:pPr>
            <a:r>
              <a:rPr lang="en-US" sz="1500" dirty="0">
                <a:solidFill>
                  <a:schemeClr val="tx1"/>
                </a:solidFill>
              </a:rPr>
              <a:t>Consequence: models that treat every patient as independent become over-confident</a:t>
            </a:r>
            <a:endParaRPr lang="en-US" sz="15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 fair test: predict unseen molecules</a:t>
            </a:r>
            <a:endParaRPr lang="en-US" sz="3200" dirty="0"/>
          </a:p>
        </p:txBody>
      </p:sp>
      <p:pic>
        <p:nvPicPr>
          <p:cNvPr id="3" name="A fair test: predict unseen molecules figure" descr="A fair test: predict unseen molecules figure">    </p:cNvPr>
          <p:cNvPicPr>
            <a:picLocks noChangeAspect="1"/>
          </p:cNvPicPr>
          <p:nvPr/>
        </p:nvPicPr>
        <p:blipFill>
          <a:blip r:embed="rId1"/>
          <a:stretch>
            <a:fillRect/>
          </a:stretch>
        </p:blipFill>
        <p:spPr>
          <a:xfrm>
            <a:off x="457200" y="1728701"/>
            <a:ext cx="7315200" cy="4132118"/>
          </a:xfrm>
          <a:prstGeom prst="rect">
            <a:avLst/>
          </a:prstGeom>
        </p:spPr>
      </p:pic>
      <p:sp>
        <p:nvSpPr>
          <p:cNvPr id="4" name="commentary card"/>
          <p:cNvSpPr/>
          <p:nvPr/>
        </p:nvSpPr>
        <p:spPr>
          <a:xfrm>
            <a:off x="8046720" y="1371600"/>
            <a:ext cx="3611880" cy="4846320"/>
          </a:xfrm>
          <a:prstGeom prst="roundRect">
            <a:avLst>
              <a:gd name="adj" fmla="val 3038"/>
            </a:avLst>
          </a:prstGeom>
          <a:solidFill>
            <a:schemeClr val="bg2"/>
          </a:solidFill>
          <a:ln w="12700">
            <a:solidFill>
              <a:schemeClr val="bg2"/>
            </a:solidFill>
            <a:prstDash val="solid"/>
          </a:ln>
        </p:spPr>
      </p:sp>
      <p:sp>
        <p:nvSpPr>
          <p:cNvPr id="5" name="commentary"/>
          <p:cNvSpPr txBox="1"/>
          <p:nvPr/>
        </p:nvSpPr>
        <p:spPr>
          <a:xfrm>
            <a:off x="8275320" y="1600200"/>
            <a:ext cx="3200400" cy="448056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5-fold cross-validation grouped by molecule</a:t>
            </a:r>
            <a:endParaRPr lang="en-US" sz="1500" dirty="0"/>
          </a:p>
          <a:p>
            <a:pPr marL="342900" indent="-342900">
              <a:spcAft>
                <a:spcPts val="800"/>
              </a:spcAft>
              <a:buSzPct val="100000"/>
              <a:buChar char="•"/>
            </a:pPr>
            <a:r>
              <a:rPr lang="en-US" sz="1500" dirty="0">
                <a:solidFill>
                  <a:schemeClr val="tx1"/>
                </a:solidFill>
              </a:rPr>
              <a:t>Biosimilar copies stay with their original drug</a:t>
            </a:r>
            <a:endParaRPr lang="en-US" sz="1500" dirty="0"/>
          </a:p>
          <a:p>
            <a:pPr marL="342900" indent="-342900">
              <a:spcAft>
                <a:spcPts val="800"/>
              </a:spcAft>
              <a:buSzPct val="100000"/>
              <a:buChar char="•"/>
            </a:pPr>
            <a:r>
              <a:rPr lang="en-US" sz="1500" dirty="0">
                <a:solidFill>
                  <a:schemeClr val="tx1"/>
                </a:solidFill>
              </a:rPr>
              <a:t>A random split lets models 'recognise' drugs and roughly halves the apparent error</a:t>
            </a:r>
            <a:endParaRPr lang="en-US" sz="1500" dirty="0"/>
          </a:p>
          <a:p>
            <a:pPr marL="342900" indent="-342900">
              <a:spcAft>
                <a:spcPts val="800"/>
              </a:spcAft>
              <a:buSzPct val="100000"/>
              <a:buChar char="•"/>
            </a:pPr>
            <a:r>
              <a:rPr lang="en-US" sz="1500" dirty="0">
                <a:solidFill>
                  <a:schemeClr val="tx1"/>
                </a:solidFill>
              </a:rPr>
              <a:t>Every model uses the same folds, features and scores</a:t>
            </a:r>
            <a:endParaRPr lang="en-US" sz="15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Three models, one question</a:t>
            </a:r>
            <a:endParaRPr lang="en-US" sz="3200" dirty="0"/>
          </a:p>
        </p:txBody>
      </p:sp>
      <p:sp>
        <p:nvSpPr>
          <p:cNvPr id="3" name="model card 1"/>
          <p:cNvSpPr/>
          <p:nvPr/>
        </p:nvSpPr>
        <p:spPr>
          <a:xfrm>
            <a:off x="548640" y="1417320"/>
            <a:ext cx="3474720" cy="3794760"/>
          </a:xfrm>
          <a:prstGeom prst="roundRect">
            <a:avLst>
              <a:gd name="adj" fmla="val 3158"/>
            </a:avLst>
          </a:prstGeom>
          <a:solidFill>
            <a:schemeClr val="bg2"/>
          </a:solidFill>
          <a:ln w="12700">
            <a:solidFill>
              <a:schemeClr val="bg2"/>
            </a:solidFill>
            <a:prstDash val="solid"/>
          </a:ln>
        </p:spPr>
      </p:sp>
      <p:sp>
        <p:nvSpPr>
          <p:cNvPr id="4" name="model 1 circle"/>
          <p:cNvSpPr/>
          <p:nvPr/>
        </p:nvSpPr>
        <p:spPr>
          <a:xfrm>
            <a:off x="822960" y="1645920"/>
            <a:ext cx="502920" cy="502920"/>
          </a:xfrm>
          <a:prstGeom prst="ellipse">
            <a:avLst/>
          </a:prstGeom>
          <a:solidFill>
            <a:schemeClr val="accent1"/>
          </a:solidFill>
          <a:ln w="12700">
            <a:solidFill>
              <a:schemeClr val="accent1"/>
            </a:solidFill>
            <a:prstDash val="solid"/>
          </a:ln>
        </p:spPr>
      </p:sp>
      <p:sp>
        <p:nvSpPr>
          <p:cNvPr id="5" name="model 1 number"/>
          <p:cNvSpPr txBox="1"/>
          <p:nvPr/>
        </p:nvSpPr>
        <p:spPr>
          <a:xfrm>
            <a:off x="822960"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model name 1"/>
          <p:cNvSpPr txBox="1"/>
          <p:nvPr/>
        </p:nvSpPr>
        <p:spPr>
          <a:xfrm>
            <a:off x="1463040" y="1645920"/>
            <a:ext cx="2423160" cy="502920"/>
          </a:xfrm>
          <a:prstGeom prst="rect">
            <a:avLst/>
          </a:prstGeom>
          <a:noFill/>
          <a:ln/>
        </p:spPr>
        <p:txBody>
          <a:bodyPr wrap="square" lIns="0" tIns="0" rIns="0" bIns="0" rtlCol="0" anchor="ctr"/>
          <a:lstStyle/>
          <a:p>
            <a:pPr indent="0" marL="0">
              <a:buNone/>
            </a:pPr>
            <a:r>
              <a:rPr lang="en-US" sz="2000" b="1" dirty="0">
                <a:solidFill>
                  <a:schemeClr val="tx2"/>
                </a:solidFill>
              </a:rPr>
              <a:t>Binomial GLM</a:t>
            </a:r>
            <a:endParaRPr lang="en-US" sz="2000" dirty="0"/>
          </a:p>
        </p:txBody>
      </p:sp>
      <p:sp>
        <p:nvSpPr>
          <p:cNvPr id="7" name="model tagline 1"/>
          <p:cNvSpPr txBox="1"/>
          <p:nvPr/>
        </p:nvSpPr>
        <p:spPr>
          <a:xfrm>
            <a:off x="822960" y="2331720"/>
            <a:ext cx="2971800" cy="411480"/>
          </a:xfrm>
          <a:prstGeom prst="rect">
            <a:avLst/>
          </a:prstGeom>
          <a:noFill/>
          <a:ln/>
        </p:spPr>
        <p:txBody>
          <a:bodyPr wrap="square" lIns="0" tIns="0" rIns="0" bIns="0" rtlCol="0" anchor="ctr"/>
          <a:lstStyle/>
          <a:p>
            <a:pPr indent="0" marL="0">
              <a:buNone/>
            </a:pPr>
            <a:r>
              <a:rPr lang="en-US" sz="1600" i="1" dirty="0">
                <a:solidFill>
                  <a:schemeClr val="accent1"/>
                </a:solidFill>
              </a:rPr>
              <a:t>A weighing scale for clues</a:t>
            </a:r>
            <a:endParaRPr lang="en-US" sz="1600" dirty="0"/>
          </a:p>
        </p:txBody>
      </p:sp>
      <p:sp>
        <p:nvSpPr>
          <p:cNvPr id="8" name="model text 1"/>
          <p:cNvSpPr txBox="1"/>
          <p:nvPr/>
        </p:nvSpPr>
        <p:spPr>
          <a:xfrm>
            <a:off x="822960" y="2834640"/>
            <a:ext cx="2971800" cy="2194560"/>
          </a:xfrm>
          <a:prstGeom prst="rect">
            <a:avLst/>
          </a:prstGeom>
          <a:noFill/>
          <a:ln/>
        </p:spPr>
        <p:txBody>
          <a:bodyPr wrap="square" lIns="0" tIns="0" rIns="0" bIns="0" rtlCol="0" anchor="t"/>
          <a:lstStyle/>
          <a:p>
            <a:pPr indent="0" marL="0">
              <a:buNone/>
            </a:pPr>
            <a:r>
              <a:rPr lang="en-US" sz="1600" dirty="0">
                <a:solidFill>
                  <a:schemeClr val="tx1"/>
                </a:solidFill>
              </a:rPr>
              <a:t>Logistic regression on counts. Odds ratios; cluster-robust errors; L1/L2 regularisation tuned by nested CV.</a:t>
            </a:r>
            <a:endParaRPr lang="en-US" sz="1600" dirty="0"/>
          </a:p>
        </p:txBody>
      </p:sp>
      <p:sp>
        <p:nvSpPr>
          <p:cNvPr id="9" name="model card 2"/>
          <p:cNvSpPr/>
          <p:nvPr/>
        </p:nvSpPr>
        <p:spPr>
          <a:xfrm>
            <a:off x="4297680" y="1417320"/>
            <a:ext cx="3474720" cy="3794760"/>
          </a:xfrm>
          <a:prstGeom prst="roundRect">
            <a:avLst>
              <a:gd name="adj" fmla="val 3158"/>
            </a:avLst>
          </a:prstGeom>
          <a:solidFill>
            <a:schemeClr val="bg2"/>
          </a:solidFill>
          <a:ln w="12700">
            <a:solidFill>
              <a:schemeClr val="bg2"/>
            </a:solidFill>
            <a:prstDash val="solid"/>
          </a:ln>
        </p:spPr>
      </p:sp>
      <p:sp>
        <p:nvSpPr>
          <p:cNvPr id="10" name="model 2 circle"/>
          <p:cNvSpPr/>
          <p:nvPr/>
        </p:nvSpPr>
        <p:spPr>
          <a:xfrm>
            <a:off x="4572000" y="1645920"/>
            <a:ext cx="502920" cy="502920"/>
          </a:xfrm>
          <a:prstGeom prst="ellipse">
            <a:avLst/>
          </a:prstGeom>
          <a:solidFill>
            <a:schemeClr val="accent3"/>
          </a:solidFill>
          <a:ln w="12700">
            <a:solidFill>
              <a:schemeClr val="accent3"/>
            </a:solidFill>
            <a:prstDash val="solid"/>
          </a:ln>
        </p:spPr>
      </p:sp>
      <p:sp>
        <p:nvSpPr>
          <p:cNvPr id="11" name="model 2 number"/>
          <p:cNvSpPr txBox="1"/>
          <p:nvPr/>
        </p:nvSpPr>
        <p:spPr>
          <a:xfrm>
            <a:off x="4572000"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model name 2"/>
          <p:cNvSpPr txBox="1"/>
          <p:nvPr/>
        </p:nvSpPr>
        <p:spPr>
          <a:xfrm>
            <a:off x="5212080" y="1645920"/>
            <a:ext cx="2423160" cy="502920"/>
          </a:xfrm>
          <a:prstGeom prst="rect">
            <a:avLst/>
          </a:prstGeom>
          <a:noFill/>
          <a:ln/>
        </p:spPr>
        <p:txBody>
          <a:bodyPr wrap="square" lIns="0" tIns="0" rIns="0" bIns="0" rtlCol="0" anchor="ctr"/>
          <a:lstStyle/>
          <a:p>
            <a:pPr indent="0" marL="0">
              <a:buNone/>
            </a:pPr>
            <a:r>
              <a:rPr lang="en-US" sz="2000" b="1" dirty="0">
                <a:solidFill>
                  <a:schemeClr val="tx2"/>
                </a:solidFill>
              </a:rPr>
              <a:t>Bayesian model</a:t>
            </a:r>
            <a:endParaRPr lang="en-US" sz="2000" dirty="0"/>
          </a:p>
        </p:txBody>
      </p:sp>
      <p:sp>
        <p:nvSpPr>
          <p:cNvPr id="13" name="model tagline 2"/>
          <p:cNvSpPr txBox="1"/>
          <p:nvPr/>
        </p:nvSpPr>
        <p:spPr>
          <a:xfrm>
            <a:off x="4572000" y="2331720"/>
            <a:ext cx="2971800" cy="411480"/>
          </a:xfrm>
          <a:prstGeom prst="rect">
            <a:avLst/>
          </a:prstGeom>
          <a:noFill/>
          <a:ln/>
        </p:spPr>
        <p:txBody>
          <a:bodyPr wrap="square" lIns="0" tIns="0" rIns="0" bIns="0" rtlCol="0" anchor="ctr"/>
          <a:lstStyle/>
          <a:p>
            <a:pPr indent="0" marL="0">
              <a:buNone/>
            </a:pPr>
            <a:r>
              <a:rPr lang="en-US" sz="1600" i="1" dirty="0">
                <a:solidFill>
                  <a:schemeClr val="accent3"/>
                </a:solidFill>
              </a:rPr>
              <a:t>A weather forecaster</a:t>
            </a:r>
            <a:endParaRPr lang="en-US" sz="1600" dirty="0"/>
          </a:p>
        </p:txBody>
      </p:sp>
      <p:sp>
        <p:nvSpPr>
          <p:cNvPr id="14" name="model text 2"/>
          <p:cNvSpPr txBox="1"/>
          <p:nvPr/>
        </p:nvSpPr>
        <p:spPr>
          <a:xfrm>
            <a:off x="4572000" y="2834640"/>
            <a:ext cx="2971800" cy="2194560"/>
          </a:xfrm>
          <a:prstGeom prst="rect">
            <a:avLst/>
          </a:prstGeom>
          <a:noFill/>
          <a:ln/>
        </p:spPr>
        <p:txBody>
          <a:bodyPr wrap="square" lIns="0" tIns="0" rIns="0" bIns="0" rtlCol="0" anchor="t"/>
          <a:lstStyle/>
          <a:p>
            <a:pPr indent="0" marL="0">
              <a:buNone/>
            </a:pPr>
            <a:r>
              <a:rPr lang="en-US" sz="1600" dirty="0">
                <a:solidFill>
                  <a:schemeClr val="tx1"/>
                </a:solidFill>
              </a:rPr>
              <a:t>Beta-Binomial in PyMC. Priors + likelihood → posterior. Each group gets its own 'coin', so uncertainty is honest.</a:t>
            </a:r>
            <a:endParaRPr lang="en-US" sz="1600" dirty="0"/>
          </a:p>
        </p:txBody>
      </p:sp>
      <p:sp>
        <p:nvSpPr>
          <p:cNvPr id="15" name="model card 3"/>
          <p:cNvSpPr/>
          <p:nvPr/>
        </p:nvSpPr>
        <p:spPr>
          <a:xfrm>
            <a:off x="8046720" y="1417320"/>
            <a:ext cx="3474720" cy="3794760"/>
          </a:xfrm>
          <a:prstGeom prst="roundRect">
            <a:avLst>
              <a:gd name="adj" fmla="val 3158"/>
            </a:avLst>
          </a:prstGeom>
          <a:solidFill>
            <a:schemeClr val="bg2"/>
          </a:solidFill>
          <a:ln w="12700">
            <a:solidFill>
              <a:schemeClr val="bg2"/>
            </a:solidFill>
            <a:prstDash val="solid"/>
          </a:ln>
        </p:spPr>
      </p:sp>
      <p:sp>
        <p:nvSpPr>
          <p:cNvPr id="16" name="model 3 circle"/>
          <p:cNvSpPr/>
          <p:nvPr/>
        </p:nvSpPr>
        <p:spPr>
          <a:xfrm>
            <a:off x="8321040" y="1645920"/>
            <a:ext cx="502920" cy="502920"/>
          </a:xfrm>
          <a:prstGeom prst="ellipse">
            <a:avLst/>
          </a:prstGeom>
          <a:solidFill>
            <a:schemeClr val="accent2"/>
          </a:solidFill>
          <a:ln w="12700">
            <a:solidFill>
              <a:schemeClr val="accent2"/>
            </a:solidFill>
            <a:prstDash val="solid"/>
          </a:ln>
        </p:spPr>
      </p:sp>
      <p:sp>
        <p:nvSpPr>
          <p:cNvPr id="17" name="model 3 number"/>
          <p:cNvSpPr txBox="1"/>
          <p:nvPr/>
        </p:nvSpPr>
        <p:spPr>
          <a:xfrm>
            <a:off x="8321040"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model name 3"/>
          <p:cNvSpPr txBox="1"/>
          <p:nvPr/>
        </p:nvSpPr>
        <p:spPr>
          <a:xfrm>
            <a:off x="8961120" y="1645920"/>
            <a:ext cx="2423160" cy="502920"/>
          </a:xfrm>
          <a:prstGeom prst="rect">
            <a:avLst/>
          </a:prstGeom>
          <a:noFill/>
          <a:ln/>
        </p:spPr>
        <p:txBody>
          <a:bodyPr wrap="square" lIns="0" tIns="0" rIns="0" bIns="0" rtlCol="0" anchor="ctr"/>
          <a:lstStyle/>
          <a:p>
            <a:pPr indent="0" marL="0">
              <a:buNone/>
            </a:pPr>
            <a:r>
              <a:rPr lang="en-US" sz="2000" b="1" dirty="0">
                <a:solidFill>
                  <a:schemeClr val="tx2"/>
                </a:solidFill>
              </a:rPr>
              <a:t>XGBoost</a:t>
            </a:r>
            <a:endParaRPr lang="en-US" sz="2000" dirty="0"/>
          </a:p>
        </p:txBody>
      </p:sp>
      <p:sp>
        <p:nvSpPr>
          <p:cNvPr id="19" name="model tagline 3"/>
          <p:cNvSpPr txBox="1"/>
          <p:nvPr/>
        </p:nvSpPr>
        <p:spPr>
          <a:xfrm>
            <a:off x="8321040" y="2331720"/>
            <a:ext cx="2971800" cy="411480"/>
          </a:xfrm>
          <a:prstGeom prst="rect">
            <a:avLst/>
          </a:prstGeom>
          <a:noFill/>
          <a:ln/>
        </p:spPr>
        <p:txBody>
          <a:bodyPr wrap="square" lIns="0" tIns="0" rIns="0" bIns="0" rtlCol="0" anchor="ctr"/>
          <a:lstStyle/>
          <a:p>
            <a:pPr indent="0" marL="0">
              <a:buNone/>
            </a:pPr>
            <a:r>
              <a:rPr lang="en-US" sz="1600" i="1" dirty="0">
                <a:solidFill>
                  <a:schemeClr val="accent2"/>
                </a:solidFill>
              </a:rPr>
              <a:t>Twenty questions</a:t>
            </a:r>
            <a:endParaRPr lang="en-US" sz="1600" dirty="0"/>
          </a:p>
        </p:txBody>
      </p:sp>
      <p:sp>
        <p:nvSpPr>
          <p:cNvPr id="20" name="model text 3"/>
          <p:cNvSpPr txBox="1"/>
          <p:nvPr/>
        </p:nvSpPr>
        <p:spPr>
          <a:xfrm>
            <a:off x="8321040" y="2834640"/>
            <a:ext cx="2971800" cy="2194560"/>
          </a:xfrm>
          <a:prstGeom prst="rect">
            <a:avLst/>
          </a:prstGeom>
          <a:noFill/>
          <a:ln/>
        </p:spPr>
        <p:txBody>
          <a:bodyPr wrap="square" lIns="0" tIns="0" rIns="0" bIns="0" rtlCol="0" anchor="t"/>
          <a:lstStyle/>
          <a:p>
            <a:pPr indent="0" marL="0">
              <a:buNone/>
            </a:pPr>
            <a:r>
              <a:rPr lang="en-US" sz="1600" dirty="0">
                <a:solidFill>
                  <a:schemeClr val="tx1"/>
                </a:solidFill>
              </a:rPr>
              <a:t>Hundreds of small decision trees; finds non-linear patterns. Explained with SHAP.</a:t>
            </a:r>
            <a:endParaRPr lang="en-US" sz="1600" dirty="0"/>
          </a:p>
        </p:txBody>
      </p:sp>
      <p:sp>
        <p:nvSpPr>
          <p:cNvPr id="21" name="scoring note"/>
          <p:cNvSpPr txBox="1"/>
          <p:nvPr/>
        </p:nvSpPr>
        <p:spPr>
          <a:xfrm>
            <a:off x="548640" y="5440680"/>
            <a:ext cx="11064240" cy="731520"/>
          </a:xfrm>
          <a:prstGeom prst="rect">
            <a:avLst/>
          </a:prstGeom>
          <a:noFill/>
          <a:ln/>
        </p:spPr>
        <p:txBody>
          <a:bodyPr wrap="square" lIns="0" tIns="0" rIns="0" bIns="0" rtlCol="0" anchor="ctr"/>
          <a:lstStyle/>
          <a:p>
            <a:pPr indent="0" marL="0">
              <a:buNone/>
            </a:pPr>
            <a:r>
              <a:rPr lang="en-US" sz="1500" dirty="0">
                <a:solidFill>
                  <a:schemeClr val="tx1"/>
                </a:solidFill>
              </a:rPr>
              <a:t>Scores on unseen molecules: patient-weighted error (wMAE), held-out log-likelihood, calibration, and coverage of 90 % predictive ranges. Baseline: always predict the training average.</a:t>
            </a:r>
            <a:endParaRPr lang="en-US" sz="15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Bayesian model in one picture</a:t>
            </a:r>
            <a:endParaRPr lang="en-US" sz="3200" dirty="0"/>
          </a:p>
        </p:txBody>
      </p:sp>
      <p:sp>
        <p:nvSpPr>
          <p:cNvPr id="3" name="Prior box"/>
          <p:cNvSpPr/>
          <p:nvPr/>
        </p:nvSpPr>
        <p:spPr>
          <a:xfrm>
            <a:off x="548640" y="1371600"/>
            <a:ext cx="3291840" cy="2286000"/>
          </a:xfrm>
          <a:prstGeom prst="roundRect">
            <a:avLst>
              <a:gd name="adj" fmla="val 4800"/>
            </a:avLst>
          </a:prstGeom>
          <a:solidFill>
            <a:schemeClr val="accent6"/>
          </a:solidFill>
          <a:ln w="12700">
            <a:solidFill>
              <a:schemeClr val="accent6"/>
            </a:solidFill>
            <a:prstDash val="solid"/>
          </a:ln>
        </p:spPr>
      </p:sp>
      <p:sp>
        <p:nvSpPr>
          <p:cNvPr id="4" name="Prior text"/>
          <p:cNvSpPr txBox="1"/>
          <p:nvPr/>
        </p:nvSpPr>
        <p:spPr>
          <a:xfrm>
            <a:off x="777240" y="1508760"/>
            <a:ext cx="2834640" cy="2011680"/>
          </a:xfrm>
          <a:prstGeom prst="rect">
            <a:avLst/>
          </a:prstGeom>
          <a:noFill/>
          <a:ln/>
        </p:spPr>
        <p:txBody>
          <a:bodyPr wrap="square" lIns="0" tIns="0" rIns="0" bIns="0" rtlCol="0" anchor="t"/>
          <a:lstStyle/>
          <a:p>
            <a:pPr indent="0" marL="0">
              <a:buNone/>
            </a:pPr>
            <a:r>
              <a:rPr lang="en-US" sz="2200" b="1" dirty="0">
                <a:solidFill>
                  <a:schemeClr val="bg1"/>
                </a:solidFill>
              </a:rPr>
              <a:t>Prior</a:t>
            </a:r>
            <a:endParaRPr lang="en-US" sz="2200" dirty="0"/>
          </a:p>
          <a:p>
            <a:pPr indent="0" marL="0">
              <a:buNone/>
            </a:pPr>
            <a:r>
              <a:rPr lang="en-US" sz="1500" dirty="0">
                <a:solidFill>
                  <a:schemeClr val="bg1"/>
                </a:solidFill>
              </a:rPr>
              <a:t>Before data: effects are probably modest</a:t>
            </a:r>
            <a:endParaRPr lang="en-US" sz="2200" dirty="0"/>
          </a:p>
          <a:p>
            <a:pPr indent="0" marL="0">
              <a:buNone/>
            </a:pPr>
            <a:r>
              <a:rPr lang="en-US" sz="1500" dirty="0">
                <a:solidFill>
                  <a:schemeClr val="bg1"/>
                </a:solidFill>
              </a:rPr>
              <a:t>α ~ N(0, 1.5),  β ~ N(0, 1),  φ ~ Exp(0.1)</a:t>
            </a:r>
            <a:endParaRPr lang="en-US" sz="2200" dirty="0"/>
          </a:p>
        </p:txBody>
      </p:sp>
      <p:sp>
        <p:nvSpPr>
          <p:cNvPr id="5" name="operator 0"/>
          <p:cNvSpPr txBox="1"/>
          <p:nvPr/>
        </p:nvSpPr>
        <p:spPr>
          <a:xfrm>
            <a:off x="3840480" y="2240280"/>
            <a:ext cx="594360" cy="731520"/>
          </a:xfrm>
          <a:prstGeom prst="rect">
            <a:avLst/>
          </a:prstGeom>
          <a:noFill/>
          <a:ln/>
        </p:spPr>
        <p:txBody>
          <a:bodyPr wrap="square" lIns="0" tIns="0" rIns="0" bIns="0" rtlCol="0" anchor="ctr"/>
          <a:lstStyle/>
          <a:p>
            <a:pPr algn="ctr" indent="0" marL="0">
              <a:buNone/>
            </a:pPr>
            <a:r>
              <a:rPr lang="en-US" sz="3600" b="1" dirty="0">
                <a:solidFill>
                  <a:schemeClr val="tx2"/>
                </a:solidFill>
              </a:rPr>
              <a:t>×</a:t>
            </a:r>
            <a:endParaRPr lang="en-US" sz="3600" dirty="0"/>
          </a:p>
        </p:txBody>
      </p:sp>
      <p:sp>
        <p:nvSpPr>
          <p:cNvPr id="6" name="Likelihood box"/>
          <p:cNvSpPr/>
          <p:nvPr/>
        </p:nvSpPr>
        <p:spPr>
          <a:xfrm>
            <a:off x="4434840" y="1371600"/>
            <a:ext cx="3291840" cy="2286000"/>
          </a:xfrm>
          <a:prstGeom prst="roundRect">
            <a:avLst>
              <a:gd name="adj" fmla="val 4800"/>
            </a:avLst>
          </a:prstGeom>
          <a:solidFill>
            <a:schemeClr val="accent3"/>
          </a:solidFill>
          <a:ln w="12700">
            <a:solidFill>
              <a:schemeClr val="accent3"/>
            </a:solidFill>
            <a:prstDash val="solid"/>
          </a:ln>
        </p:spPr>
      </p:sp>
      <p:sp>
        <p:nvSpPr>
          <p:cNvPr id="7" name="Likelihood text"/>
          <p:cNvSpPr txBox="1"/>
          <p:nvPr/>
        </p:nvSpPr>
        <p:spPr>
          <a:xfrm>
            <a:off x="4663440" y="1508760"/>
            <a:ext cx="2834640" cy="2011680"/>
          </a:xfrm>
          <a:prstGeom prst="rect">
            <a:avLst/>
          </a:prstGeom>
          <a:noFill/>
          <a:ln/>
        </p:spPr>
        <p:txBody>
          <a:bodyPr wrap="square" lIns="0" tIns="0" rIns="0" bIns="0" rtlCol="0" anchor="t"/>
          <a:lstStyle/>
          <a:p>
            <a:pPr indent="0" marL="0">
              <a:buNone/>
            </a:pPr>
            <a:r>
              <a:rPr lang="en-US" sz="2200" b="1" dirty="0">
                <a:solidFill>
                  <a:schemeClr val="bg1"/>
                </a:solidFill>
              </a:rPr>
              <a:t>Likelihood</a:t>
            </a:r>
            <a:endParaRPr lang="en-US" sz="2200" dirty="0"/>
          </a:p>
          <a:p>
            <a:pPr indent="0" marL="0">
              <a:buNone/>
            </a:pPr>
            <a:r>
              <a:rPr lang="en-US" sz="1500" dirty="0">
                <a:solidFill>
                  <a:schemeClr val="bg1"/>
                </a:solidFill>
              </a:rPr>
              <a:t>How probable are the counts?</a:t>
            </a:r>
            <a:endParaRPr lang="en-US" sz="2200" dirty="0"/>
          </a:p>
          <a:p>
            <a:pPr indent="0" marL="0">
              <a:buNone/>
            </a:pPr>
            <a:r>
              <a:rPr lang="en-US" sz="1500" dirty="0">
                <a:solidFill>
                  <a:schemeClr val="bg1"/>
                </a:solidFill>
              </a:rPr>
              <a:t>pᵢ ~ Beta(μᵢφ, (1−μᵢ)φ),  yᵢ ~ Binomial(nᵢ, pᵢ)</a:t>
            </a:r>
            <a:endParaRPr lang="en-US" sz="2200" dirty="0"/>
          </a:p>
        </p:txBody>
      </p:sp>
      <p:sp>
        <p:nvSpPr>
          <p:cNvPr id="8" name="operator 1"/>
          <p:cNvSpPr txBox="1"/>
          <p:nvPr/>
        </p:nvSpPr>
        <p:spPr>
          <a:xfrm>
            <a:off x="7726680" y="2240280"/>
            <a:ext cx="594360" cy="731520"/>
          </a:xfrm>
          <a:prstGeom prst="rect">
            <a:avLst/>
          </a:prstGeom>
          <a:noFill/>
          <a:ln/>
        </p:spPr>
        <p:txBody>
          <a:bodyPr wrap="square" lIns="0" tIns="0" rIns="0" bIns="0" rtlCol="0" anchor="ctr"/>
          <a:lstStyle/>
          <a:p>
            <a:pPr algn="ctr" indent="0" marL="0">
              <a:buNone/>
            </a:pPr>
            <a:r>
              <a:rPr lang="en-US" sz="3600" b="1" dirty="0">
                <a:solidFill>
                  <a:schemeClr val="tx2"/>
                </a:solidFill>
              </a:rPr>
              <a:t>→</a:t>
            </a:r>
            <a:endParaRPr lang="en-US" sz="3600" dirty="0"/>
          </a:p>
        </p:txBody>
      </p:sp>
      <p:sp>
        <p:nvSpPr>
          <p:cNvPr id="9" name="Posterior box"/>
          <p:cNvSpPr/>
          <p:nvPr/>
        </p:nvSpPr>
        <p:spPr>
          <a:xfrm>
            <a:off x="8321040" y="1371600"/>
            <a:ext cx="3291840" cy="2286000"/>
          </a:xfrm>
          <a:prstGeom prst="roundRect">
            <a:avLst>
              <a:gd name="adj" fmla="val 4800"/>
            </a:avLst>
          </a:prstGeom>
          <a:solidFill>
            <a:schemeClr val="accent2"/>
          </a:solidFill>
          <a:ln w="12700">
            <a:solidFill>
              <a:schemeClr val="accent2"/>
            </a:solidFill>
            <a:prstDash val="solid"/>
          </a:ln>
        </p:spPr>
      </p:sp>
      <p:sp>
        <p:nvSpPr>
          <p:cNvPr id="10" name="Posterior text"/>
          <p:cNvSpPr txBox="1"/>
          <p:nvPr/>
        </p:nvSpPr>
        <p:spPr>
          <a:xfrm>
            <a:off x="8549640" y="1508760"/>
            <a:ext cx="2834640" cy="2011680"/>
          </a:xfrm>
          <a:prstGeom prst="rect">
            <a:avLst/>
          </a:prstGeom>
          <a:noFill/>
          <a:ln/>
        </p:spPr>
        <p:txBody>
          <a:bodyPr wrap="square" lIns="0" tIns="0" rIns="0" bIns="0" rtlCol="0" anchor="t"/>
          <a:lstStyle/>
          <a:p>
            <a:pPr indent="0" marL="0">
              <a:buNone/>
            </a:pPr>
            <a:r>
              <a:rPr lang="en-US" sz="2200" b="1" dirty="0">
                <a:solidFill>
                  <a:schemeClr val="bg1"/>
                </a:solidFill>
              </a:rPr>
              <a:t>Posterior</a:t>
            </a:r>
            <a:endParaRPr lang="en-US" sz="2200" dirty="0"/>
          </a:p>
          <a:p>
            <a:pPr indent="0" marL="0">
              <a:buNone/>
            </a:pPr>
            <a:r>
              <a:rPr lang="en-US" sz="1500" dirty="0">
                <a:solidFill>
                  <a:schemeClr val="bg1"/>
                </a:solidFill>
              </a:rPr>
              <a:t>Plausible effects after the data</a:t>
            </a:r>
            <a:endParaRPr lang="en-US" sz="2200" dirty="0"/>
          </a:p>
          <a:p>
            <a:pPr indent="0" marL="0">
              <a:buNone/>
            </a:pPr>
            <a:r>
              <a:rPr lang="en-US" sz="1500" dirty="0">
                <a:solidFill>
                  <a:schemeClr val="bg1"/>
                </a:solidFill>
              </a:rPr>
              <a:t>NUTS: 4 chains × 1,000 draws</a:t>
            </a:r>
            <a:endParaRPr lang="en-US" sz="2200" dirty="0"/>
          </a:p>
          <a:p>
            <a:pPr indent="0" marL="0">
              <a:buNone/>
            </a:pPr>
            <a:r>
              <a:rPr lang="en-US" sz="1500" dirty="0">
                <a:solidFill>
                  <a:schemeClr val="bg1"/>
                </a:solidFill>
              </a:rPr>
              <a:t>r̂ = 1.00, 0 divergences</a:t>
            </a:r>
            <a:endParaRPr lang="en-US" sz="2200" dirty="0"/>
          </a:p>
        </p:txBody>
      </p:sp>
      <p:sp>
        <p:nvSpPr>
          <p:cNvPr id="11" name="beta-binomial card"/>
          <p:cNvSpPr/>
          <p:nvPr/>
        </p:nvSpPr>
        <p:spPr>
          <a:xfrm>
            <a:off x="548640" y="3886200"/>
            <a:ext cx="11064240" cy="2331720"/>
          </a:xfrm>
          <a:prstGeom prst="roundRect">
            <a:avLst>
              <a:gd name="adj" fmla="val 4706"/>
            </a:avLst>
          </a:prstGeom>
          <a:solidFill>
            <a:schemeClr val="bg2"/>
          </a:solidFill>
          <a:ln w="12700">
            <a:solidFill>
              <a:schemeClr val="bg2"/>
            </a:solidFill>
            <a:prstDash val="solid"/>
          </a:ln>
        </p:spPr>
      </p:sp>
      <p:sp>
        <p:nvSpPr>
          <p:cNvPr id="12" name="bayes bullets"/>
          <p:cNvSpPr txBox="1"/>
          <p:nvPr/>
        </p:nvSpPr>
        <p:spPr>
          <a:xfrm>
            <a:off x="822960" y="4069080"/>
            <a:ext cx="10515600" cy="20574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Plain Binomial: every patient in a group flips the same coin → over-confident (its 90 % ranges catch only 47 % of unseen groups)</a:t>
            </a:r>
            <a:endParaRPr lang="en-US" sz="1600" dirty="0"/>
          </a:p>
          <a:p>
            <a:pPr marL="342900" indent="-342900">
              <a:spcAft>
                <a:spcPts val="800"/>
              </a:spcAft>
              <a:buSzPct val="100000"/>
              <a:buChar char="•"/>
            </a:pPr>
            <a:r>
              <a:rPr lang="en-US" sz="1600" dirty="0">
                <a:solidFill>
                  <a:schemeClr val="tx1"/>
                </a:solidFill>
              </a:rPr>
              <a:t>Beta-Binomial: first draw the group's own coin around the prediction, then flip it n times → matches the real spread of the data</a:t>
            </a:r>
            <a:endParaRPr lang="en-US" sz="1600" dirty="0"/>
          </a:p>
          <a:p>
            <a:pPr marL="342900" indent="-342900">
              <a:spcAft>
                <a:spcPts val="800"/>
              </a:spcAft>
              <a:buSzPct val="100000"/>
              <a:buChar char="•"/>
            </a:pPr>
            <a:r>
              <a:rPr lang="en-US" sz="1600" dirty="0">
                <a:solidFill>
                  <a:schemeClr val="tx1"/>
                </a:solidFill>
              </a:rPr>
              <a:t>Posterior predictive check: Beta-Binomial reproduces the 35 % of groups with zero ADA; Binomial predicts only 21–24 %</a:t>
            </a:r>
            <a:endParaRPr lang="en-US" sz="16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For a new molecule, no model beats the average</a:t>
            </a:r>
            <a:endParaRPr lang="en-US" sz="3200" dirty="0"/>
          </a:p>
        </p:txBody>
      </p:sp>
      <p:pic>
        <p:nvPicPr>
          <p:cNvPr id="3" name="For a new molecule, no model beats the average figure" descr="For a new molecule, no model beats the average figure">    </p:cNvPr>
          <p:cNvPicPr>
            <a:picLocks noChangeAspect="1"/>
          </p:cNvPicPr>
          <p:nvPr/>
        </p:nvPicPr>
        <p:blipFill>
          <a:blip r:embed="rId1"/>
          <a:stretch>
            <a:fillRect/>
          </a:stretch>
        </p:blipFill>
        <p:spPr>
          <a:xfrm>
            <a:off x="457200" y="1794331"/>
            <a:ext cx="7315200" cy="4000858"/>
          </a:xfrm>
          <a:prstGeom prst="rect">
            <a:avLst/>
          </a:prstGeom>
        </p:spPr>
      </p:pic>
      <p:sp>
        <p:nvSpPr>
          <p:cNvPr id="4" name="commentary card"/>
          <p:cNvSpPr/>
          <p:nvPr/>
        </p:nvSpPr>
        <p:spPr>
          <a:xfrm>
            <a:off x="8046720" y="1371600"/>
            <a:ext cx="3611880" cy="4846320"/>
          </a:xfrm>
          <a:prstGeom prst="roundRect">
            <a:avLst>
              <a:gd name="adj" fmla="val 3038"/>
            </a:avLst>
          </a:prstGeom>
          <a:solidFill>
            <a:schemeClr val="bg2"/>
          </a:solidFill>
          <a:ln w="12700">
            <a:solidFill>
              <a:schemeClr val="bg2"/>
            </a:solidFill>
            <a:prstDash val="solid"/>
          </a:ln>
        </p:spPr>
      </p:sp>
      <p:sp>
        <p:nvSpPr>
          <p:cNvPr id="5" name="commentary"/>
          <p:cNvSpPr txBox="1"/>
          <p:nvPr/>
        </p:nvSpPr>
        <p:spPr>
          <a:xfrm>
            <a:off x="8275320" y="1600200"/>
            <a:ext cx="3200400" cy="448056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Best: XGBoost 12.8 vs 13.1 points for 'guess the average'</a:t>
            </a:r>
            <a:endParaRPr lang="en-US" sz="1500" dirty="0"/>
          </a:p>
          <a:p>
            <a:pPr marL="342900" indent="-342900">
              <a:spcAft>
                <a:spcPts val="800"/>
              </a:spcAft>
              <a:buSzPct val="100000"/>
              <a:buChar char="•"/>
            </a:pPr>
            <a:r>
              <a:rPr lang="en-US" sz="1500" dirty="0">
                <a:solidFill>
                  <a:schemeClr val="tx1"/>
                </a:solidFill>
              </a:rPr>
              <a:t>The gain is smaller than the fold-to-fold spread, and absent in log-likelihood</a:t>
            </a:r>
            <a:endParaRPr lang="en-US" sz="1500" dirty="0"/>
          </a:p>
          <a:p>
            <a:pPr marL="342900" indent="-342900">
              <a:spcAft>
                <a:spcPts val="800"/>
              </a:spcAft>
              <a:buSzPct val="100000"/>
              <a:buChar char="•"/>
            </a:pPr>
            <a:r>
              <a:rPr lang="en-US" sz="1500" dirty="0">
                <a:solidFill>
                  <a:schemeClr val="tx1"/>
                </a:solidFill>
              </a:rPr>
              <a:t>Plain GLM and Bayesian Binomial over-fit the largest trials</a:t>
            </a:r>
            <a:endParaRPr lang="en-US" sz="1500" dirty="0"/>
          </a:p>
          <a:p>
            <a:pPr marL="342900" indent="-342900">
              <a:spcAft>
                <a:spcPts val="800"/>
              </a:spcAft>
              <a:buSzPct val="100000"/>
              <a:buChar char="•"/>
            </a:pPr>
            <a:r>
              <a:rPr lang="en-US" sz="1500" dirty="0">
                <a:solidFill>
                  <a:schemeClr val="tx1"/>
                </a:solidFill>
              </a:rPr>
              <a:t>Sequence features: no consistent gain</a:t>
            </a:r>
            <a:endParaRPr lang="en-US" sz="15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Only the Beta-Binomial gives honest uncertainty</a:t>
            </a:r>
            <a:endParaRPr lang="en-US" sz="3200" dirty="0"/>
          </a:p>
        </p:txBody>
      </p:sp>
      <p:pic>
        <p:nvPicPr>
          <p:cNvPr id="3" name="Only the Beta-Binomial gives honest uncertainty figure" descr="Only the Beta-Binomial gives honest uncertainty figure">    </p:cNvPr>
          <p:cNvPicPr>
            <a:picLocks noChangeAspect="1"/>
          </p:cNvPicPr>
          <p:nvPr/>
        </p:nvPicPr>
        <p:blipFill>
          <a:blip r:embed="rId1"/>
          <a:stretch>
            <a:fillRect/>
          </a:stretch>
        </p:blipFill>
        <p:spPr>
          <a:xfrm>
            <a:off x="457200" y="1895898"/>
            <a:ext cx="7315200" cy="3797724"/>
          </a:xfrm>
          <a:prstGeom prst="rect">
            <a:avLst/>
          </a:prstGeom>
        </p:spPr>
      </p:pic>
      <p:sp>
        <p:nvSpPr>
          <p:cNvPr id="4" name="commentary card"/>
          <p:cNvSpPr/>
          <p:nvPr/>
        </p:nvSpPr>
        <p:spPr>
          <a:xfrm>
            <a:off x="8046720" y="1371600"/>
            <a:ext cx="3611880" cy="4846320"/>
          </a:xfrm>
          <a:prstGeom prst="roundRect">
            <a:avLst>
              <a:gd name="adj" fmla="val 3038"/>
            </a:avLst>
          </a:prstGeom>
          <a:solidFill>
            <a:schemeClr val="bg2"/>
          </a:solidFill>
          <a:ln w="12700">
            <a:solidFill>
              <a:schemeClr val="bg2"/>
            </a:solidFill>
            <a:prstDash val="solid"/>
          </a:ln>
        </p:spPr>
      </p:sp>
      <p:sp>
        <p:nvSpPr>
          <p:cNvPr id="5" name="commentary"/>
          <p:cNvSpPr txBox="1"/>
          <p:nvPr/>
        </p:nvSpPr>
        <p:spPr>
          <a:xfrm>
            <a:off x="8275320" y="1600200"/>
            <a:ext cx="3200400" cy="448056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A 90 % range should contain the truth about 90 % of the time</a:t>
            </a:r>
            <a:endParaRPr lang="en-US" sz="1500" dirty="0"/>
          </a:p>
          <a:p>
            <a:pPr marL="342900" indent="-342900">
              <a:spcAft>
                <a:spcPts val="800"/>
              </a:spcAft>
              <a:buSzPct val="100000"/>
              <a:buChar char="•"/>
            </a:pPr>
            <a:r>
              <a:rPr lang="en-US" sz="1500" dirty="0">
                <a:solidFill>
                  <a:schemeClr val="tx1"/>
                </a:solidFill>
              </a:rPr>
              <a:t>Models assuming Binomial spread: about 50 %</a:t>
            </a:r>
            <a:endParaRPr lang="en-US" sz="1500" dirty="0"/>
          </a:p>
          <a:p>
            <a:pPr marL="342900" indent="-342900">
              <a:spcAft>
                <a:spcPts val="800"/>
              </a:spcAft>
              <a:buSzPct val="100000"/>
              <a:buChar char="•"/>
            </a:pPr>
            <a:r>
              <a:rPr lang="en-US" sz="1500" dirty="0">
                <a:solidFill>
                  <a:schemeClr val="tx1"/>
                </a:solidFill>
              </a:rPr>
              <a:t>Beta-Binomial: 88 %; the no-clue Beta-Binomial reaches 95 %</a:t>
            </a:r>
            <a:endParaRPr lang="en-US" sz="1500" dirty="0"/>
          </a:p>
          <a:p>
            <a:pPr marL="342900" indent="-342900">
              <a:spcAft>
                <a:spcPts val="800"/>
              </a:spcAft>
              <a:buSzPct val="100000"/>
              <a:buChar char="•"/>
            </a:pPr>
            <a:r>
              <a:rPr lang="en-US" sz="1500" dirty="0">
                <a:solidFill>
                  <a:schemeClr val="tx1"/>
                </a:solidFill>
              </a:rPr>
              <a:t>Modelling overdispersion matters more than any single clue</a:t>
            </a:r>
            <a:endParaRPr lang="en-US" sz="15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Predictions are too spread out</a:t>
            </a:r>
            <a:endParaRPr lang="en-US" sz="3200" dirty="0"/>
          </a:p>
        </p:txBody>
      </p:sp>
      <p:pic>
        <p:nvPicPr>
          <p:cNvPr id="3" name="calibration plot" descr="calibration plot">    </p:cNvPr>
          <p:cNvPicPr>
            <a:picLocks noChangeAspect="1"/>
          </p:cNvPicPr>
          <p:nvPr/>
        </p:nvPicPr>
        <p:blipFill>
          <a:blip r:embed="rId1"/>
          <a:stretch>
            <a:fillRect/>
          </a:stretch>
        </p:blipFill>
        <p:spPr>
          <a:xfrm>
            <a:off x="548640" y="1428085"/>
            <a:ext cx="6035040" cy="4687630"/>
          </a:xfrm>
          <a:prstGeom prst="rect">
            <a:avLst/>
          </a:prstGeom>
        </p:spPr>
      </p:pic>
      <p:sp>
        <p:nvSpPr>
          <p:cNvPr id="4" name="calibration card"/>
          <p:cNvSpPr/>
          <p:nvPr/>
        </p:nvSpPr>
        <p:spPr>
          <a:xfrm>
            <a:off x="6949440" y="1371600"/>
            <a:ext cx="4663440" cy="4846320"/>
          </a:xfrm>
          <a:prstGeom prst="roundRect">
            <a:avLst>
              <a:gd name="adj" fmla="val 2353"/>
            </a:avLst>
          </a:prstGeom>
          <a:solidFill>
            <a:schemeClr val="bg2"/>
          </a:solidFill>
          <a:ln w="12700">
            <a:solidFill>
              <a:schemeClr val="bg2"/>
            </a:solidFill>
            <a:prstDash val="solid"/>
          </a:ln>
        </p:spPr>
      </p:sp>
      <p:sp>
        <p:nvSpPr>
          <p:cNvPr id="5" name="calibration bullets"/>
          <p:cNvSpPr txBox="1"/>
          <p:nvPr/>
        </p:nvSpPr>
        <p:spPr>
          <a:xfrm>
            <a:off x="7178040" y="1600200"/>
            <a:ext cx="4251960" cy="448056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Cohorts are sorted into 8 groups by predicted ADA; dots compare prediction with what was observed</a:t>
            </a:r>
            <a:endParaRPr lang="en-US" sz="1600" dirty="0"/>
          </a:p>
          <a:p>
            <a:pPr marL="342900" indent="-342900">
              <a:spcAft>
                <a:spcPts val="800"/>
              </a:spcAft>
              <a:buSzPct val="100000"/>
              <a:buChar char="•"/>
            </a:pPr>
            <a:r>
              <a:rPr lang="en-US" sz="1600" dirty="0">
                <a:solidFill>
                  <a:schemeClr val="tx1"/>
                </a:solidFill>
              </a:rPr>
              <a:t>Perfect calibration = the dashed diagonal</a:t>
            </a:r>
            <a:endParaRPr lang="en-US" sz="1600" dirty="0"/>
          </a:p>
          <a:p>
            <a:pPr marL="342900" indent="-342900">
              <a:spcAft>
                <a:spcPts val="800"/>
              </a:spcAft>
              <a:buSzPct val="100000"/>
              <a:buChar char="•"/>
            </a:pPr>
            <a:r>
              <a:rPr lang="en-US" sz="1600" dirty="0">
                <a:solidFill>
                  <a:schemeClr val="tx1"/>
                </a:solidFill>
              </a:rPr>
              <a:t>When a model predicts very low or very high ADA for a new molecule, reality usually lands near the average</a:t>
            </a:r>
            <a:endParaRPr lang="en-US" sz="1600" dirty="0"/>
          </a:p>
          <a:p>
            <a:pPr marL="342900" indent="-342900">
              <a:spcAft>
                <a:spcPts val="800"/>
              </a:spcAft>
              <a:buSzPct val="100000"/>
              <a:buChar char="•"/>
            </a:pPr>
            <a:r>
              <a:rPr lang="en-US" sz="1600" dirty="0">
                <a:solidFill>
                  <a:schemeClr val="tx1"/>
                </a:solidFill>
              </a:rPr>
              <a:t>Models are over-confident about differences between molecules, the same overdispersion story</a:t>
            </a:r>
            <a:endParaRPr lang="en-US" sz="16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What is linked to ADA (associations, not causes)</a:t>
            </a:r>
            <a:endParaRPr lang="en-US" sz="3200" dirty="0"/>
          </a:p>
        </p:txBody>
      </p:sp>
      <p:pic>
        <p:nvPicPr>
          <p:cNvPr id="3" name="What is linked to ADA (associations, not causes) figure" descr="What is linked to ADA (associations, not causes) figure">    </p:cNvPr>
          <p:cNvPicPr>
            <a:picLocks noChangeAspect="1"/>
          </p:cNvPicPr>
          <p:nvPr/>
        </p:nvPicPr>
        <p:blipFill>
          <a:blip r:embed="rId1"/>
          <a:stretch>
            <a:fillRect/>
          </a:stretch>
        </p:blipFill>
        <p:spPr>
          <a:xfrm>
            <a:off x="457200" y="1892345"/>
            <a:ext cx="7315200" cy="3804830"/>
          </a:xfrm>
          <a:prstGeom prst="rect">
            <a:avLst/>
          </a:prstGeom>
        </p:spPr>
      </p:pic>
      <p:sp>
        <p:nvSpPr>
          <p:cNvPr id="4" name="commentary card"/>
          <p:cNvSpPr/>
          <p:nvPr/>
        </p:nvSpPr>
        <p:spPr>
          <a:xfrm>
            <a:off x="8046720" y="1371600"/>
            <a:ext cx="3611880" cy="4846320"/>
          </a:xfrm>
          <a:prstGeom prst="roundRect">
            <a:avLst>
              <a:gd name="adj" fmla="val 3038"/>
            </a:avLst>
          </a:prstGeom>
          <a:solidFill>
            <a:schemeClr val="bg2"/>
          </a:solidFill>
          <a:ln w="12700">
            <a:solidFill>
              <a:schemeClr val="bg2"/>
            </a:solidFill>
            <a:prstDash val="solid"/>
          </a:ln>
        </p:spPr>
      </p:sp>
      <p:sp>
        <p:nvSpPr>
          <p:cNvPr id="5" name="commentary"/>
          <p:cNvSpPr txBox="1"/>
          <p:nvPr/>
        </p:nvSpPr>
        <p:spPr>
          <a:xfrm>
            <a:off x="8275320" y="1600200"/>
            <a:ext cx="3200400" cy="448056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Higher: bacterial or chimeric origin, active-controlled / biosimilar trials, later trial start, subcutaneous route</a:t>
            </a:r>
            <a:endParaRPr lang="en-US" sz="1500" dirty="0"/>
          </a:p>
          <a:p>
            <a:pPr marL="342900" indent="-342900">
              <a:spcAft>
                <a:spcPts val="800"/>
              </a:spcAft>
              <a:buSzPct val="100000"/>
              <a:buChar char="•"/>
            </a:pPr>
            <a:r>
              <a:rPr lang="en-US" sz="1500" dirty="0">
                <a:solidFill>
                  <a:schemeClr val="tx1"/>
                </a:solidFill>
              </a:rPr>
              <a:t>Lower: higher dose, co-medication, healthy volunteers, antibody-drug conjugates</a:t>
            </a:r>
            <a:endParaRPr lang="en-US" sz="1500" dirty="0"/>
          </a:p>
          <a:p>
            <a:pPr marL="342900" indent="-342900">
              <a:spcAft>
                <a:spcPts val="800"/>
              </a:spcAft>
              <a:buSzPct val="100000"/>
              <a:buChar char="•"/>
            </a:pPr>
            <a:r>
              <a:rPr lang="en-US" sz="1500" dirty="0">
                <a:solidFill>
                  <a:schemeClr val="tx1"/>
                </a:solidFill>
              </a:rPr>
              <a:t>Later start year likely reflects more sensitive ADA tests, not worse drugs</a:t>
            </a:r>
            <a:endParaRPr lang="en-US" sz="15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Three methods agree on the core factors</a:t>
            </a:r>
            <a:endParaRPr lang="en-US" sz="3200" dirty="0"/>
          </a:p>
        </p:txBody>
      </p:sp>
      <p:pic>
        <p:nvPicPr>
          <p:cNvPr id="3" name="SHAP summary" descr="SHAP summary">    </p:cNvPr>
          <p:cNvPicPr>
            <a:picLocks noChangeAspect="1"/>
          </p:cNvPicPr>
          <p:nvPr/>
        </p:nvPicPr>
        <p:blipFill>
          <a:blip r:embed="rId1"/>
          <a:stretch>
            <a:fillRect/>
          </a:stretch>
        </p:blipFill>
        <p:spPr>
          <a:xfrm>
            <a:off x="365760" y="1876739"/>
            <a:ext cx="7589520" cy="3836042"/>
          </a:xfrm>
          <a:prstGeom prst="rect">
            <a:avLst/>
          </a:prstGeom>
        </p:spPr>
      </p:pic>
      <p:sp>
        <p:nvSpPr>
          <p:cNvPr id="4" name="stat agreement"/>
          <p:cNvSpPr txBox="1"/>
          <p:nvPr/>
        </p:nvSpPr>
        <p:spPr>
          <a:xfrm>
            <a:off x="8321040" y="1463040"/>
            <a:ext cx="3383280" cy="1234440"/>
          </a:xfrm>
          <a:prstGeom prst="rect">
            <a:avLst/>
          </a:prstGeom>
          <a:noFill/>
          <a:ln/>
        </p:spPr>
        <p:txBody>
          <a:bodyPr wrap="square" lIns="0" tIns="0" rIns="0" bIns="0" rtlCol="0" anchor="t"/>
          <a:lstStyle/>
          <a:p>
            <a:pPr indent="0" marL="0">
              <a:buNone/>
            </a:pPr>
            <a:r>
              <a:rPr lang="en-US" sz="4400" b="1" dirty="0">
                <a:solidFill>
                  <a:schemeClr val="accent3"/>
                </a:solidFill>
                <a:latin typeface="Cambria" pitchFamily="34" charset="0"/>
                <a:ea typeface="Cambria" pitchFamily="34" charset="-122"/>
                <a:cs typeface="Cambria" pitchFamily="34" charset="-120"/>
              </a:rPr>
              <a:t>32 / 42</a:t>
            </a:r>
            <a:endParaRPr lang="en-US" sz="4400" dirty="0"/>
          </a:p>
          <a:p>
            <a:pPr indent="0" marL="0">
              <a:buNone/>
            </a:pPr>
            <a:r>
              <a:rPr lang="en-US" sz="1400" dirty="0">
                <a:solidFill>
                  <a:schemeClr val="tx1"/>
                </a:solidFill>
              </a:rPr>
              <a:t>features point the same way in GLM, Bayesian model and XGBoost (SHAP)</a:t>
            </a:r>
            <a:endParaRPr lang="en-US" sz="4400" dirty="0"/>
          </a:p>
        </p:txBody>
      </p:sp>
      <p:sp>
        <p:nvSpPr>
          <p:cNvPr id="5" name="stat robust"/>
          <p:cNvSpPr txBox="1"/>
          <p:nvPr/>
        </p:nvSpPr>
        <p:spPr>
          <a:xfrm>
            <a:off x="8321040" y="3017520"/>
            <a:ext cx="3383280" cy="1234440"/>
          </a:xfrm>
          <a:prstGeom prst="rect">
            <a:avLst/>
          </a:prstGeom>
          <a:noFill/>
          <a:ln/>
        </p:spPr>
        <p:txBody>
          <a:bodyPr wrap="square" lIns="0" tIns="0" rIns="0" bIns="0" rtlCol="0" anchor="t"/>
          <a:lstStyle/>
          <a:p>
            <a:pPr indent="0" marL="0">
              <a:buNone/>
            </a:pPr>
            <a:r>
              <a:rPr lang="en-US" sz="4400" b="1" dirty="0">
                <a:solidFill>
                  <a:schemeClr val="accent3"/>
                </a:solidFill>
                <a:latin typeface="Cambria" pitchFamily="34" charset="0"/>
                <a:ea typeface="Cambria" pitchFamily="34" charset="-122"/>
                <a:cs typeface="Cambria" pitchFamily="34" charset="-120"/>
              </a:rPr>
              <a:t>9</a:t>
            </a:r>
            <a:endParaRPr lang="en-US" sz="4400" dirty="0"/>
          </a:p>
          <a:p>
            <a:pPr indent="0" marL="0">
              <a:buNone/>
            </a:pPr>
            <a:r>
              <a:rPr lang="en-US" sz="1400" dirty="0">
                <a:solidFill>
                  <a:schemeClr val="tx1"/>
                </a:solidFill>
              </a:rPr>
              <a:t>robust: same direction and confident in both statistical models</a:t>
            </a:r>
            <a:endParaRPr lang="en-US" sz="4400" dirty="0"/>
          </a:p>
        </p:txBody>
      </p:sp>
      <p:sp>
        <p:nvSpPr>
          <p:cNvPr id="6" name="robust list"/>
          <p:cNvSpPr txBox="1"/>
          <p:nvPr/>
        </p:nvSpPr>
        <p:spPr>
          <a:xfrm>
            <a:off x="8321040" y="4572000"/>
            <a:ext cx="3383280" cy="1280160"/>
          </a:xfrm>
          <a:prstGeom prst="rect">
            <a:avLst/>
          </a:prstGeom>
          <a:noFill/>
          <a:ln/>
        </p:spPr>
        <p:txBody>
          <a:bodyPr wrap="square" lIns="0" tIns="0" rIns="0" bIns="0" rtlCol="0" anchor="t"/>
          <a:lstStyle/>
          <a:p>
            <a:pPr indent="0" marL="0">
              <a:buNone/>
            </a:pPr>
            <a:r>
              <a:rPr lang="en-US" sz="1500" i="1" dirty="0">
                <a:solidFill>
                  <a:schemeClr val="tx1"/>
                </a:solidFill>
              </a:rPr>
              <a:t>Year, dose, trial type, co-medication, bacterial origin, healthy volunteers, biosimilar</a:t>
            </a:r>
            <a:endParaRPr lang="en-US" sz="15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Protein-sequence features: tested, not adopted</a:t>
            </a:r>
            <a:endParaRPr lang="en-US" sz="3200" dirty="0"/>
          </a:p>
        </p:txBody>
      </p:sp>
      <p:pic>
        <p:nvPicPr>
          <p:cNvPr id="3" name="sequence go/no-go" descr="sequence go/no-go">    </p:cNvPr>
          <p:cNvPicPr>
            <a:picLocks noChangeAspect="1"/>
          </p:cNvPicPr>
          <p:nvPr/>
        </p:nvPicPr>
        <p:blipFill>
          <a:blip r:embed="rId1"/>
          <a:stretch>
            <a:fillRect/>
          </a:stretch>
        </p:blipFill>
        <p:spPr>
          <a:xfrm>
            <a:off x="1040281" y="1280160"/>
            <a:ext cx="10080958" cy="3246120"/>
          </a:xfrm>
          <a:prstGeom prst="rect">
            <a:avLst/>
          </a:prstGeom>
        </p:spPr>
      </p:pic>
      <p:sp>
        <p:nvSpPr>
          <p:cNvPr id="4" name="sequence card 1"/>
          <p:cNvSpPr/>
          <p:nvPr/>
        </p:nvSpPr>
        <p:spPr>
          <a:xfrm>
            <a:off x="548640" y="4709160"/>
            <a:ext cx="3474720" cy="1508760"/>
          </a:xfrm>
          <a:prstGeom prst="roundRect">
            <a:avLst>
              <a:gd name="adj" fmla="val 7273"/>
            </a:avLst>
          </a:prstGeom>
          <a:solidFill>
            <a:schemeClr val="bg2"/>
          </a:solidFill>
          <a:ln w="12700">
            <a:solidFill>
              <a:schemeClr val="bg2"/>
            </a:solidFill>
            <a:prstDash val="solid"/>
          </a:ln>
        </p:spPr>
      </p:sp>
      <p:sp>
        <p:nvSpPr>
          <p:cNvPr id="5" name="sequence text 1"/>
          <p:cNvSpPr txBox="1"/>
          <p:nvPr/>
        </p:nvSpPr>
        <p:spPr>
          <a:xfrm>
            <a:off x="777240" y="4800600"/>
            <a:ext cx="3017520" cy="1325880"/>
          </a:xfrm>
          <a:prstGeom prst="rect">
            <a:avLst/>
          </a:prstGeom>
          <a:noFill/>
          <a:ln/>
        </p:spPr>
        <p:txBody>
          <a:bodyPr wrap="square" lIns="0" tIns="0" rIns="0" bIns="0" rtlCol="0" anchor="t"/>
          <a:lstStyle/>
          <a:p>
            <a:pPr indent="0" marL="0">
              <a:buNone/>
            </a:pPr>
            <a:r>
              <a:rPr lang="en-US" sz="1500" b="1" dirty="0">
                <a:solidFill>
                  <a:schemeClr val="tx2"/>
                </a:solidFill>
              </a:rPr>
              <a:t>Pre-registered rule</a:t>
            </a:r>
            <a:endParaRPr lang="en-US" sz="1500" dirty="0"/>
          </a:p>
          <a:p>
            <a:pPr indent="0" marL="0">
              <a:buNone/>
            </a:pPr>
            <a:r>
              <a:rPr lang="en-US" sz="1500" dirty="0">
                <a:solidFill>
                  <a:schemeClr val="tx1"/>
                </a:solidFill>
              </a:rPr>
              <a:t>Keep only if better on average and in at least 4 of 5 folds</a:t>
            </a:r>
            <a:endParaRPr lang="en-US" sz="1500" dirty="0"/>
          </a:p>
        </p:txBody>
      </p:sp>
      <p:sp>
        <p:nvSpPr>
          <p:cNvPr id="6" name="sequence card 2"/>
          <p:cNvSpPr/>
          <p:nvPr/>
        </p:nvSpPr>
        <p:spPr>
          <a:xfrm>
            <a:off x="4297680" y="4709160"/>
            <a:ext cx="3474720" cy="1508760"/>
          </a:xfrm>
          <a:prstGeom prst="roundRect">
            <a:avLst>
              <a:gd name="adj" fmla="val 7273"/>
            </a:avLst>
          </a:prstGeom>
          <a:solidFill>
            <a:schemeClr val="bg2"/>
          </a:solidFill>
          <a:ln w="12700">
            <a:solidFill>
              <a:schemeClr val="bg2"/>
            </a:solidFill>
            <a:prstDash val="solid"/>
          </a:ln>
        </p:spPr>
      </p:sp>
      <p:sp>
        <p:nvSpPr>
          <p:cNvPr id="7" name="sequence text 2"/>
          <p:cNvSpPr txBox="1"/>
          <p:nvPr/>
        </p:nvSpPr>
        <p:spPr>
          <a:xfrm>
            <a:off x="4526280" y="4800600"/>
            <a:ext cx="3017520" cy="1325880"/>
          </a:xfrm>
          <a:prstGeom prst="rect">
            <a:avLst/>
          </a:prstGeom>
          <a:noFill/>
          <a:ln/>
        </p:spPr>
        <p:txBody>
          <a:bodyPr wrap="square" lIns="0" tIns="0" rIns="0" bIns="0" rtlCol="0" anchor="t"/>
          <a:lstStyle/>
          <a:p>
            <a:pPr indent="0" marL="0">
              <a:buNone/>
            </a:pPr>
            <a:r>
              <a:rPr lang="en-US" sz="1500" b="1" dirty="0">
                <a:solidFill>
                  <a:schemeClr val="tx2"/>
                </a:solidFill>
              </a:rPr>
              <a:t>Result</a:t>
            </a:r>
            <a:endParaRPr lang="en-US" sz="1500" dirty="0"/>
          </a:p>
          <a:p>
            <a:pPr indent="0" marL="0">
              <a:buNone/>
            </a:pPr>
            <a:r>
              <a:rPr lang="en-US" sz="1500" dirty="0">
                <a:solidFill>
                  <a:schemeClr val="tx1"/>
                </a:solidFill>
              </a:rPr>
              <a:t>XGBoost error 12.8 → 11.5 but only 3/5 folds; GLM and Bayesian no consistent gain</a:t>
            </a:r>
            <a:endParaRPr lang="en-US" sz="1500" dirty="0"/>
          </a:p>
        </p:txBody>
      </p:sp>
      <p:sp>
        <p:nvSpPr>
          <p:cNvPr id="8" name="sequence card 3"/>
          <p:cNvSpPr/>
          <p:nvPr/>
        </p:nvSpPr>
        <p:spPr>
          <a:xfrm>
            <a:off x="8046720" y="4709160"/>
            <a:ext cx="3474720" cy="1508760"/>
          </a:xfrm>
          <a:prstGeom prst="roundRect">
            <a:avLst>
              <a:gd name="adj" fmla="val 7273"/>
            </a:avLst>
          </a:prstGeom>
          <a:solidFill>
            <a:schemeClr val="bg2"/>
          </a:solidFill>
          <a:ln w="12700">
            <a:solidFill>
              <a:schemeClr val="bg2"/>
            </a:solidFill>
            <a:prstDash val="solid"/>
          </a:ln>
        </p:spPr>
      </p:sp>
      <p:sp>
        <p:nvSpPr>
          <p:cNvPr id="9" name="sequence text 3"/>
          <p:cNvSpPr txBox="1"/>
          <p:nvPr/>
        </p:nvSpPr>
        <p:spPr>
          <a:xfrm>
            <a:off x="8275320" y="4800600"/>
            <a:ext cx="3017520" cy="1325880"/>
          </a:xfrm>
          <a:prstGeom prst="rect">
            <a:avLst/>
          </a:prstGeom>
          <a:noFill/>
          <a:ln/>
        </p:spPr>
        <p:txBody>
          <a:bodyPr wrap="square" lIns="0" tIns="0" rIns="0" bIns="0" rtlCol="0" anchor="t"/>
          <a:lstStyle/>
          <a:p>
            <a:pPr indent="0" marL="0">
              <a:buNone/>
            </a:pPr>
            <a:r>
              <a:rPr lang="en-US" sz="1500" b="1" dirty="0">
                <a:solidFill>
                  <a:schemeClr val="tx2"/>
                </a:solidFill>
              </a:rPr>
              <a:t>Lesson</a:t>
            </a:r>
            <a:endParaRPr lang="en-US" sz="1500" dirty="0"/>
          </a:p>
          <a:p>
            <a:pPr indent="0" marL="0">
              <a:buNone/>
            </a:pPr>
            <a:r>
              <a:rPr lang="en-US" sz="1500" dirty="0">
                <a:solidFill>
                  <a:schemeClr val="tx1"/>
                </a:solidFill>
              </a:rPr>
              <a:t>Grouping by product had inflated the gain: biosimilars share sequences</a:t>
            </a:r>
            <a:endParaRPr lang="en-US" sz="15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Interactive dashboard</a:t>
            </a:r>
            <a:endParaRPr lang="en-US" sz="3200" dirty="0"/>
          </a:p>
        </p:txBody>
      </p:sp>
      <p:pic>
        <p:nvPicPr>
          <p:cNvPr id="3" name="dashboard screenshot" descr="dashboard screenshot">    </p:cNvPr>
          <p:cNvPicPr>
            <a:picLocks noChangeAspect="1"/>
          </p:cNvPicPr>
          <p:nvPr/>
        </p:nvPicPr>
        <p:blipFill>
          <a:blip r:embed="rId1"/>
          <a:stretch>
            <a:fillRect/>
          </a:stretch>
        </p:blipFill>
        <p:spPr>
          <a:xfrm>
            <a:off x="548640" y="1420586"/>
            <a:ext cx="6583680" cy="4702629"/>
          </a:xfrm>
          <a:prstGeom prst="rect">
            <a:avLst/>
          </a:prstGeom>
        </p:spPr>
      </p:pic>
      <p:sp>
        <p:nvSpPr>
          <p:cNvPr id="4" name="dashboard card"/>
          <p:cNvSpPr/>
          <p:nvPr/>
        </p:nvSpPr>
        <p:spPr>
          <a:xfrm>
            <a:off x="7498080" y="1371600"/>
            <a:ext cx="4114800" cy="4846320"/>
          </a:xfrm>
          <a:prstGeom prst="roundRect">
            <a:avLst>
              <a:gd name="adj" fmla="val 2667"/>
            </a:avLst>
          </a:prstGeom>
          <a:solidFill>
            <a:schemeClr val="bg2"/>
          </a:solidFill>
          <a:ln w="12700">
            <a:solidFill>
              <a:schemeClr val="bg2"/>
            </a:solidFill>
            <a:prstDash val="solid"/>
          </a:ln>
        </p:spPr>
      </p:sp>
      <p:sp>
        <p:nvSpPr>
          <p:cNvPr id="5" name="dashboard bullets"/>
          <p:cNvSpPr txBox="1"/>
          <p:nvPr/>
        </p:nvSpPr>
        <p:spPr>
          <a:xfrm>
            <a:off x="7726680" y="1600200"/>
            <a:ext cx="3703320" cy="448056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Explore: ADA by origin, route, disease, dose, trial period, with filters</a:t>
            </a:r>
            <a:endParaRPr lang="en-US" sz="1600" dirty="0"/>
          </a:p>
          <a:p>
            <a:pPr marL="342900" indent="-342900">
              <a:spcAft>
                <a:spcPts val="800"/>
              </a:spcAft>
              <a:buSzPct val="100000"/>
              <a:buChar char="•"/>
            </a:pPr>
            <a:r>
              <a:rPr lang="en-US" sz="1600" dirty="0">
                <a:solidFill>
                  <a:schemeClr val="tx1"/>
                </a:solidFill>
              </a:rPr>
              <a:t>Predict: describe a drug and a trial → XGBoost estimate plus Bayesian range for a group of any size</a:t>
            </a:r>
            <a:endParaRPr lang="en-US" sz="1600" dirty="0"/>
          </a:p>
          <a:p>
            <a:pPr marL="342900" indent="-342900">
              <a:spcAft>
                <a:spcPts val="800"/>
              </a:spcAft>
              <a:buSzPct val="100000"/>
              <a:buChar char="•"/>
            </a:pPr>
            <a:r>
              <a:rPr lang="en-US" sz="1600" dirty="0">
                <a:solidFill>
                  <a:schemeClr val="tx1"/>
                </a:solidFill>
              </a:rPr>
              <a:t>Model results: scoreboard and key charts</a:t>
            </a:r>
            <a:endParaRPr lang="en-US" sz="1600" dirty="0"/>
          </a:p>
          <a:p>
            <a:pPr marL="342900" indent="-342900">
              <a:spcAft>
                <a:spcPts val="800"/>
              </a:spcAft>
              <a:buSzPct val="100000"/>
              <a:buChar char="•"/>
            </a:pPr>
            <a:r>
              <a:rPr lang="en-US" sz="1600" dirty="0">
                <a:solidFill>
                  <a:schemeClr val="tx1"/>
                </a:solidFill>
              </a:rPr>
              <a:t>Loads the saved models, so it uses exactly the training preprocessing</a:t>
            </a:r>
            <a:endParaRPr lang="en-US" sz="16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Limitations and next steps</a:t>
            </a:r>
            <a:endParaRPr lang="en-US" sz="3200" dirty="0"/>
          </a:p>
        </p:txBody>
      </p:sp>
      <p:sp>
        <p:nvSpPr>
          <p:cNvPr id="3" name="Limitations card"/>
          <p:cNvSpPr/>
          <p:nvPr/>
        </p:nvSpPr>
        <p:spPr>
          <a:xfrm>
            <a:off x="548640" y="1417320"/>
            <a:ext cx="5440680" cy="4754880"/>
          </a:xfrm>
          <a:prstGeom prst="roundRect">
            <a:avLst>
              <a:gd name="adj" fmla="val 2308"/>
            </a:avLst>
          </a:prstGeom>
          <a:solidFill>
            <a:schemeClr val="bg2"/>
          </a:solidFill>
          <a:ln w="12700">
            <a:solidFill>
              <a:schemeClr val="bg2"/>
            </a:solidFill>
            <a:prstDash val="solid"/>
          </a:ln>
        </p:spPr>
      </p:sp>
      <p:sp>
        <p:nvSpPr>
          <p:cNvPr id="4" name="Limitations circle"/>
          <p:cNvSpPr/>
          <p:nvPr/>
        </p:nvSpPr>
        <p:spPr>
          <a:xfrm>
            <a:off x="822960" y="1645920"/>
            <a:ext cx="502920" cy="502920"/>
          </a:xfrm>
          <a:prstGeom prst="ellipse">
            <a:avLst/>
          </a:prstGeom>
          <a:solidFill>
            <a:schemeClr val="accent1"/>
          </a:solidFill>
          <a:ln w="12700">
            <a:solidFill>
              <a:schemeClr val="accent1"/>
            </a:solidFill>
            <a:prstDash val="solid"/>
          </a:ln>
        </p:spPr>
      </p:sp>
      <p:sp>
        <p:nvSpPr>
          <p:cNvPr id="5" name="Limitations number"/>
          <p:cNvSpPr txBox="1"/>
          <p:nvPr/>
        </p:nvSpPr>
        <p:spPr>
          <a:xfrm>
            <a:off x="822960"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6" name="Limitations heading"/>
          <p:cNvSpPr txBox="1"/>
          <p:nvPr/>
        </p:nvSpPr>
        <p:spPr>
          <a:xfrm>
            <a:off x="1463040" y="1645920"/>
            <a:ext cx="4206240" cy="502920"/>
          </a:xfrm>
          <a:prstGeom prst="rect">
            <a:avLst/>
          </a:prstGeom>
          <a:noFill/>
          <a:ln/>
        </p:spPr>
        <p:txBody>
          <a:bodyPr wrap="square" lIns="0" tIns="0" rIns="0" bIns="0" rtlCol="0" anchor="ctr"/>
          <a:lstStyle/>
          <a:p>
            <a:pPr indent="0" marL="0">
              <a:buNone/>
            </a:pPr>
            <a:r>
              <a:rPr lang="en-US" sz="2200" b="1" dirty="0">
                <a:solidFill>
                  <a:schemeClr val="tx2"/>
                </a:solidFill>
              </a:rPr>
              <a:t>Limitations</a:t>
            </a:r>
            <a:endParaRPr lang="en-US" sz="2200" dirty="0"/>
          </a:p>
        </p:txBody>
      </p:sp>
      <p:sp>
        <p:nvSpPr>
          <p:cNvPr id="7" name="Limitations list"/>
          <p:cNvSpPr txBox="1"/>
          <p:nvPr/>
        </p:nvSpPr>
        <p:spPr>
          <a:xfrm>
            <a:off x="822960" y="2423160"/>
            <a:ext cx="4937760" cy="356616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Observational trials with different ADA assays</a:t>
            </a:r>
            <a:endParaRPr lang="en-US" sz="1600" dirty="0"/>
          </a:p>
          <a:p>
            <a:pPr marL="342900" indent="-342900">
              <a:spcAft>
                <a:spcPts val="800"/>
              </a:spcAft>
              <a:buSzPct val="100000"/>
              <a:buChar char="•"/>
            </a:pPr>
            <a:r>
              <a:rPr lang="en-US" sz="1600" dirty="0">
                <a:solidFill>
                  <a:schemeClr val="tx1"/>
                </a:solidFill>
              </a:rPr>
              <a:t>Dose parsed approximately from free text</a:t>
            </a:r>
            <a:endParaRPr lang="en-US" sz="1600" dirty="0"/>
          </a:p>
          <a:p>
            <a:pPr marL="342900" indent="-342900">
              <a:spcAft>
                <a:spcPts val="800"/>
              </a:spcAft>
              <a:buSzPct val="100000"/>
              <a:buChar char="•"/>
            </a:pPr>
            <a:r>
              <a:rPr lang="en-US" sz="1600" dirty="0">
                <a:solidFill>
                  <a:schemeClr val="tx1"/>
                </a:solidFill>
              </a:rPr>
              <a:t>Only ~108 molecules to learn from</a:t>
            </a:r>
            <a:endParaRPr lang="en-US" sz="1600" dirty="0"/>
          </a:p>
          <a:p>
            <a:pPr marL="342900" indent="-342900">
              <a:spcAft>
                <a:spcPts val="800"/>
              </a:spcAft>
              <a:buSzPct val="100000"/>
              <a:buChar char="•"/>
            </a:pPr>
            <a:r>
              <a:rPr lang="en-US" sz="1600" dirty="0">
                <a:solidFill>
                  <a:schemeClr val="tx1"/>
                </a:solidFill>
              </a:rPr>
              <a:t>No per-molecule random effect in the Bayesian model</a:t>
            </a:r>
            <a:endParaRPr lang="en-US" sz="1600" dirty="0"/>
          </a:p>
          <a:p>
            <a:pPr marL="342900" indent="-342900">
              <a:spcAft>
                <a:spcPts val="800"/>
              </a:spcAft>
              <a:buSzPct val="100000"/>
              <a:buChar char="•"/>
            </a:pPr>
            <a:r>
              <a:rPr lang="en-US" sz="1600" dirty="0">
                <a:solidFill>
                  <a:schemeClr val="tx1"/>
                </a:solidFill>
              </a:rPr>
              <a:t>Associations only, no causal claims</a:t>
            </a:r>
            <a:endParaRPr lang="en-US" sz="1600" dirty="0"/>
          </a:p>
        </p:txBody>
      </p:sp>
      <p:sp>
        <p:nvSpPr>
          <p:cNvPr id="8" name="Next steps card"/>
          <p:cNvSpPr/>
          <p:nvPr/>
        </p:nvSpPr>
        <p:spPr>
          <a:xfrm>
            <a:off x="6172200" y="1417320"/>
            <a:ext cx="5440680" cy="4754880"/>
          </a:xfrm>
          <a:prstGeom prst="roundRect">
            <a:avLst>
              <a:gd name="adj" fmla="val 2308"/>
            </a:avLst>
          </a:prstGeom>
          <a:solidFill>
            <a:schemeClr val="bg2"/>
          </a:solidFill>
          <a:ln w="12700">
            <a:solidFill>
              <a:schemeClr val="bg2"/>
            </a:solidFill>
            <a:prstDash val="solid"/>
          </a:ln>
        </p:spPr>
      </p:sp>
      <p:sp>
        <p:nvSpPr>
          <p:cNvPr id="9" name="Next steps circle"/>
          <p:cNvSpPr/>
          <p:nvPr/>
        </p:nvSpPr>
        <p:spPr>
          <a:xfrm>
            <a:off x="6446520" y="1645920"/>
            <a:ext cx="502920" cy="502920"/>
          </a:xfrm>
          <a:prstGeom prst="ellipse">
            <a:avLst/>
          </a:prstGeom>
          <a:solidFill>
            <a:schemeClr val="accent3"/>
          </a:solidFill>
          <a:ln w="12700">
            <a:solidFill>
              <a:schemeClr val="accent3"/>
            </a:solidFill>
            <a:prstDash val="solid"/>
          </a:ln>
        </p:spPr>
      </p:sp>
      <p:sp>
        <p:nvSpPr>
          <p:cNvPr id="10" name="Next steps number"/>
          <p:cNvSpPr txBox="1"/>
          <p:nvPr/>
        </p:nvSpPr>
        <p:spPr>
          <a:xfrm>
            <a:off x="6446520"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1" name="Next steps heading"/>
          <p:cNvSpPr txBox="1"/>
          <p:nvPr/>
        </p:nvSpPr>
        <p:spPr>
          <a:xfrm>
            <a:off x="7086600" y="1645920"/>
            <a:ext cx="4206240" cy="502920"/>
          </a:xfrm>
          <a:prstGeom prst="rect">
            <a:avLst/>
          </a:prstGeom>
          <a:noFill/>
          <a:ln/>
        </p:spPr>
        <p:txBody>
          <a:bodyPr wrap="square" lIns="0" tIns="0" rIns="0" bIns="0" rtlCol="0" anchor="ctr"/>
          <a:lstStyle/>
          <a:p>
            <a:pPr indent="0" marL="0">
              <a:buNone/>
            </a:pPr>
            <a:r>
              <a:rPr lang="en-US" sz="2200" b="1" dirty="0">
                <a:solidFill>
                  <a:schemeClr val="tx2"/>
                </a:solidFill>
              </a:rPr>
              <a:t>Next steps</a:t>
            </a:r>
            <a:endParaRPr lang="en-US" sz="2200" dirty="0"/>
          </a:p>
        </p:txBody>
      </p:sp>
      <p:sp>
        <p:nvSpPr>
          <p:cNvPr id="12" name="Next steps list"/>
          <p:cNvSpPr txBox="1"/>
          <p:nvPr/>
        </p:nvSpPr>
        <p:spPr>
          <a:xfrm>
            <a:off x="6446520" y="2423160"/>
            <a:ext cx="4937760" cy="356616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Add assay type and sensitivity as covariates</a:t>
            </a:r>
            <a:endParaRPr lang="en-US" sz="1600" dirty="0"/>
          </a:p>
          <a:p>
            <a:pPr marL="342900" indent="-342900">
              <a:spcAft>
                <a:spcPts val="800"/>
              </a:spcAft>
              <a:buSzPct val="100000"/>
              <a:buChar char="•"/>
            </a:pPr>
            <a:r>
              <a:rPr lang="en-US" sz="1600" dirty="0">
                <a:solidFill>
                  <a:schemeClr val="tx1"/>
                </a:solidFill>
              </a:rPr>
              <a:t>Per-molecule random effects (hierarchical model)</a:t>
            </a:r>
            <a:endParaRPr lang="en-US" sz="1600" dirty="0"/>
          </a:p>
          <a:p>
            <a:pPr marL="342900" indent="-342900">
              <a:spcAft>
                <a:spcPts val="800"/>
              </a:spcAft>
              <a:buSzPct val="100000"/>
              <a:buChar char="•"/>
            </a:pPr>
            <a:r>
              <a:rPr lang="en-US" sz="1600" dirty="0">
                <a:solidFill>
                  <a:schemeClr val="tx1"/>
                </a:solidFill>
              </a:rPr>
              <a:t>Variable-region and humanness sequence features</a:t>
            </a:r>
            <a:endParaRPr lang="en-US" sz="1600" dirty="0"/>
          </a:p>
          <a:p>
            <a:pPr marL="342900" indent="-342900">
              <a:spcAft>
                <a:spcPts val="800"/>
              </a:spcAft>
              <a:buSzPct val="100000"/>
              <a:buChar char="•"/>
            </a:pPr>
            <a:r>
              <a:rPr lang="en-US" sz="1600" dirty="0">
                <a:solidFill>
                  <a:schemeClr val="tx1"/>
                </a:solidFill>
              </a:rPr>
              <a:t>T-cell epitope predictions</a:t>
            </a:r>
            <a:endParaRPr lang="en-US" sz="1600" dirty="0"/>
          </a:p>
          <a:p>
            <a:pPr marL="342900" indent="-342900">
              <a:spcAft>
                <a:spcPts val="800"/>
              </a:spcAft>
              <a:buSzPct val="100000"/>
              <a:buChar char="•"/>
            </a:pPr>
            <a:r>
              <a:rPr lang="en-US" sz="1600" dirty="0">
                <a:solidFill>
                  <a:schemeClr val="tx1"/>
                </a:solidFill>
              </a:rPr>
              <a:t>Validate on newly added IDC trials</a:t>
            </a:r>
            <a:endParaRPr lang="en-US" sz="16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10698480" cy="1097280"/>
          </a:xfrm>
          <a:prstGeom prst="rect">
            <a:avLst/>
          </a:prstGeom>
          <a:noFill/>
          <a:ln/>
        </p:spPr>
        <p:txBody>
          <a:bodyPr wrap="square" rtlCol="0" anchor="b"/>
          <a:lstStyle/>
          <a:p>
            <a:pPr indent="0" marL="0">
              <a:buNone/>
            </a:pPr>
            <a:r>
              <a:rPr lang="en-US" sz="4400" b="1" dirty="0">
                <a:solidFill>
                  <a:schemeClr val="bg1"/>
                </a:solidFill>
                <a:latin typeface="Cambria" pitchFamily="34" charset="0"/>
                <a:ea typeface="Cambria" pitchFamily="34" charset="-122"/>
                <a:cs typeface="Cambria" pitchFamily="34" charset="-120"/>
              </a:rPr>
              <a:t>Take-home messages</a:t>
            </a:r>
            <a:endParaRPr lang="en-US" sz="4400" dirty="0"/>
          </a:p>
        </p:txBody>
      </p:sp>
      <p:sp>
        <p:nvSpPr>
          <p:cNvPr id="3" name="Text 0"/>
          <p:cNvSpPr/>
          <p:nvPr>
            <p:ph idx="101" type="body" hasCustomPrompt="1"/>
          </p:nvPr>
        </p:nvSpPr>
        <p:spPr>
          <a:xfrm>
            <a:off x="731520" y="2103120"/>
            <a:ext cx="10698480" cy="4114800"/>
          </a:xfrm>
          <a:prstGeom prst="rect">
            <a:avLst/>
          </a:prstGeom>
          <a:noFill/>
          <a:ln/>
        </p:spPr>
        <p:txBody>
          <a:bodyPr wrap="square" rtlCol="0" anchor="t"/>
          <a:lstStyle/>
          <a:p>
            <a:pPr indent="0" marL="0">
              <a:spcAft>
                <a:spcPts val="1400"/>
              </a:spcAft>
              <a:buNone/>
            </a:pPr>
            <a:r>
              <a:rPr lang="en-US" sz="2200" dirty="0">
                <a:solidFill>
                  <a:schemeClr val="bg2"/>
                </a:solidFill>
              </a:rPr>
              <a:t>1  Overdispersion dominates: a Beta-Binomial is needed for honest uncertainty</a:t>
            </a:r>
            <a:endParaRPr lang="en-US" sz="2200" dirty="0"/>
          </a:p>
          <a:p>
            <a:pPr indent="0" marL="0">
              <a:spcAft>
                <a:spcPts val="1400"/>
              </a:spcAft>
              <a:buNone/>
            </a:pPr>
            <a:r>
              <a:rPr lang="en-US" sz="2200" dirty="0">
                <a:solidFill>
                  <a:schemeClr val="bg2"/>
                </a:solidFill>
              </a:rPr>
              <a:t>2  For a brand-new molecule, ADA is barely predictable beyond the average (~13 %)</a:t>
            </a:r>
            <a:endParaRPr lang="en-US" sz="2200" dirty="0"/>
          </a:p>
          <a:p>
            <a:pPr indent="0" marL="0">
              <a:spcAft>
                <a:spcPts val="1400"/>
              </a:spcAft>
              <a:buNone/>
            </a:pPr>
            <a:r>
              <a:rPr lang="en-US" sz="2200" dirty="0">
                <a:solidFill>
                  <a:schemeClr val="bg2"/>
                </a:solidFill>
              </a:rPr>
              <a:t>3  Methods agree on assay era, dose, protein foreignness, trial type and co-medication</a:t>
            </a:r>
            <a:endParaRPr lang="en-US" sz="2200" dirty="0"/>
          </a:p>
          <a:p>
            <a:pPr indent="0" marL="0">
              <a:spcAft>
                <a:spcPts val="1400"/>
              </a:spcAft>
              <a:buNone/>
            </a:pPr>
            <a:r>
              <a:rPr lang="en-US" sz="2200" dirty="0">
                <a:solidFill>
                  <a:schemeClr val="bg2"/>
                </a:solidFill>
              </a:rPr>
              <a:t>4  Fair evaluation (grouped by molecule) changes the story; leakage is easy to miss</a:t>
            </a:r>
            <a:endParaRPr lang="en-US" sz="2200" dirty="0"/>
          </a:p>
        </p:txBody>
      </p:sp>
    </p:spTree>
  </p:cSld>
  <p:clrMapOvr>
    <a:masterClrMapping/>
  </p:clrMapOvr>
</p:sld>
</file>

<file path=ppt/theme/theme1.xml><?xml version="1.0" encoding="utf-8"?>
<a:theme xmlns:a="http://schemas.openxmlformats.org/drawingml/2006/main" name="Immuno Compass">
  <a:themeElements>
    <a:clrScheme name="Immuno Compass">
      <a:dk1>
        <a:srgbClr val="1B1F24"/>
      </a:dk1>
      <a:lt1>
        <a:srgbClr val="FFFFFF"/>
      </a:lt1>
      <a:dk2>
        <a:srgbClr val="13294B"/>
      </a:dk2>
      <a:lt2>
        <a:srgbClr val="EEF3F8"/>
      </a:lt2>
      <a:accent1>
        <a:srgbClr val="EB6834"/>
      </a:accent1>
      <a:accent2>
        <a:srgbClr val="2A78D6"/>
      </a:accent2>
      <a:accent3>
        <a:srgbClr val="1BAF7A"/>
      </a:accent3>
      <a:accent4>
        <a:srgbClr val="EDA100"/>
      </a:accent4>
      <a:accent5>
        <a:srgbClr val="6250D6"/>
      </a:accent5>
      <a:accent6>
        <a:srgbClr val="8A8984"/>
      </a:accent6>
      <a:hlink>
        <a:srgbClr val="2A78D6"/>
      </a:hlink>
      <a:folHlink>
        <a:srgbClr val="6250D6"/>
      </a:folHlink>
    </a:clrScheme>
    <a:fontScheme name="Immuno Compas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Immuno Compass</dc:title>
  <dc:subject>Foundations of Data Science project</dc:subject>
  <dc:creator>PptxGenJS</dc:creator>
  <cp:lastModifiedBy>PptxGenJS</cp:lastModifiedBy>
  <cp:revision>1</cp:revision>
  <dcterms:created xsi:type="dcterms:W3CDTF">2026-10-10T21:36:45Z</dcterms:created>
  <dcterms:modified xsi:type="dcterms:W3CDTF">2026-10-10T21:36:45Z</dcterms:modified>
</cp:coreProperties>
</file>